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8" r:id="rId2"/>
    <p:sldId id="369" r:id="rId3"/>
    <p:sldId id="308" r:id="rId4"/>
    <p:sldId id="380" r:id="rId5"/>
    <p:sldId id="387" r:id="rId6"/>
    <p:sldId id="388" r:id="rId7"/>
    <p:sldId id="389" r:id="rId8"/>
    <p:sldId id="390" r:id="rId9"/>
    <p:sldId id="381" r:id="rId10"/>
    <p:sldId id="391" r:id="rId11"/>
    <p:sldId id="392" r:id="rId12"/>
    <p:sldId id="393" r:id="rId13"/>
    <p:sldId id="579" r:id="rId14"/>
    <p:sldId id="382" r:id="rId15"/>
    <p:sldId id="394" r:id="rId16"/>
    <p:sldId id="574" r:id="rId17"/>
    <p:sldId id="384" r:id="rId18"/>
    <p:sldId id="577" r:id="rId19"/>
    <p:sldId id="576" r:id="rId20"/>
    <p:sldId id="385" r:id="rId21"/>
    <p:sldId id="386" r:id="rId22"/>
    <p:sldId id="57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6067"/>
    <a:srgbClr val="4F403F"/>
    <a:srgbClr val="64504F"/>
    <a:srgbClr val="E3E1E1"/>
    <a:srgbClr val="F4CD42"/>
    <a:srgbClr val="CAA10C"/>
    <a:srgbClr val="D0AF90"/>
    <a:srgbClr val="EAEAEA"/>
    <a:srgbClr val="F8F8F8"/>
    <a:srgbClr val="F4B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3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14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19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9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27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88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43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2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39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60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DA607-1878-474E-AFDE-19D592E59C1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2020-03-11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5FB0F-4D3A-44DA-870C-E9263608B109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91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F4CD42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813272" y="538277"/>
            <a:ext cx="4695618" cy="5746349"/>
            <a:chOff x="4784572" y="522731"/>
            <a:chExt cx="4695618" cy="5746349"/>
          </a:xfrm>
        </p:grpSpPr>
        <p:grpSp>
          <p:nvGrpSpPr>
            <p:cNvPr id="30" name="그룹 29"/>
            <p:cNvGrpSpPr/>
            <p:nvPr/>
          </p:nvGrpSpPr>
          <p:grpSpPr>
            <a:xfrm rot="21403890">
              <a:off x="4784572" y="522731"/>
              <a:ext cx="4695618" cy="5746349"/>
              <a:chOff x="6676455" y="533399"/>
              <a:chExt cx="4675932" cy="5722257"/>
            </a:xfrm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31" name="직사각형 30"/>
              <p:cNvSpPr/>
              <p:nvPr/>
            </p:nvSpPr>
            <p:spPr>
              <a:xfrm rot="21540000">
                <a:off x="6676455" y="638629"/>
                <a:ext cx="4617589" cy="5548086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734798" y="533399"/>
                <a:ext cx="4617589" cy="57222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" name="모서리가 둥근 직사각형 2"/>
            <p:cNvSpPr/>
            <p:nvPr/>
          </p:nvSpPr>
          <p:spPr>
            <a:xfrm rot="18834276">
              <a:off x="4816742" y="829797"/>
              <a:ext cx="327660" cy="45719"/>
            </a:xfrm>
            <a:prstGeom prst="roundRect">
              <a:avLst/>
            </a:prstGeom>
            <a:solidFill>
              <a:srgbClr val="64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6654428" y="223899"/>
            <a:ext cx="4916661" cy="6204934"/>
            <a:chOff x="6676455" y="354528"/>
            <a:chExt cx="4675932" cy="5901128"/>
          </a:xfrm>
        </p:grpSpPr>
        <p:sp>
          <p:nvSpPr>
            <p:cNvPr id="10" name="직사각형 9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7" name="자유형 26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1432989" y="1075576"/>
            <a:ext cx="4085832" cy="1935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4000" b="1" i="1" dirty="0">
                <a:solidFill>
                  <a:schemeClr val="bg1"/>
                </a:solidFill>
                <a:latin typeface="+mn-ea"/>
                <a:cs typeface="Aharoni" panose="02010803020104030203" pitchFamily="2" charset="-79"/>
              </a:rPr>
              <a:t>네트워크 </a:t>
            </a:r>
            <a:endParaRPr lang="en-US" altLang="ko-KR" sz="4000" b="1" i="1" dirty="0">
              <a:solidFill>
                <a:schemeClr val="bg1"/>
              </a:solidFill>
              <a:latin typeface="+mn-ea"/>
              <a:cs typeface="Aharoni" panose="02010803020104030203" pitchFamily="2" charset="-79"/>
            </a:endParaRPr>
          </a:p>
          <a:p>
            <a:r>
              <a:rPr lang="ko-KR" altLang="en-US" sz="4000" b="1" i="1" dirty="0">
                <a:solidFill>
                  <a:schemeClr val="bg1"/>
                </a:solidFill>
                <a:latin typeface="+mn-ea"/>
                <a:cs typeface="Aharoni" panose="02010803020104030203" pitchFamily="2" charset="-79"/>
              </a:rPr>
              <a:t>프로그래밍</a:t>
            </a:r>
            <a:endParaRPr lang="en-US" altLang="ko-KR" sz="4000" b="1" i="1" dirty="0">
              <a:solidFill>
                <a:schemeClr val="bg1"/>
              </a:solidFill>
              <a:latin typeface="+mn-ea"/>
              <a:cs typeface="Aharoni" panose="02010803020104030203" pitchFamily="2" charset="-79"/>
            </a:endParaRPr>
          </a:p>
          <a:p>
            <a:endParaRPr lang="en-US" altLang="ko-KR" sz="1000" b="1" dirty="0">
              <a:solidFill>
                <a:schemeClr val="bg1"/>
              </a:solidFill>
              <a:latin typeface="+mn-ea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b="1" i="1" dirty="0">
                <a:solidFill>
                  <a:schemeClr val="bg1"/>
                </a:solidFill>
              </a:rPr>
              <a:t>08. ICMP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644961" y="1200852"/>
            <a:ext cx="9969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i="1" dirty="0">
                <a:solidFill>
                  <a:srgbClr val="64504F"/>
                </a:solidFill>
                <a:latin typeface="+mn-ea"/>
                <a:cs typeface="Aharoni" panose="02010803020104030203" pitchFamily="2" charset="-79"/>
              </a:rPr>
              <a:t>CONTENTS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8891431" y="1579367"/>
            <a:ext cx="504000" cy="286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/>
          <p:cNvSpPr/>
          <p:nvPr/>
        </p:nvSpPr>
        <p:spPr>
          <a:xfrm>
            <a:off x="1457082" y="4655402"/>
            <a:ext cx="3239321" cy="898579"/>
          </a:xfrm>
          <a:prstGeom prst="roundRect">
            <a:avLst>
              <a:gd name="adj" fmla="val 152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휴먼지능정보공학과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201810800 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이혜인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 rot="5400000">
            <a:off x="-236805" y="1675976"/>
            <a:ext cx="2162714" cy="279384"/>
          </a:xfrm>
          <a:prstGeom prst="roundRect">
            <a:avLst>
              <a:gd name="adj" fmla="val 327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6C3F3-C7CE-45E9-89E1-F9500C5408AF}"/>
              </a:ext>
            </a:extLst>
          </p:cNvPr>
          <p:cNvSpPr/>
          <p:nvPr/>
        </p:nvSpPr>
        <p:spPr>
          <a:xfrm>
            <a:off x="8190327" y="2881311"/>
            <a:ext cx="2131040" cy="628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i="1" dirty="0">
                <a:solidFill>
                  <a:srgbClr val="64504F"/>
                </a:solidFill>
              </a:rPr>
              <a:t>Lab 08 : ICMP</a:t>
            </a:r>
          </a:p>
        </p:txBody>
      </p:sp>
    </p:spTree>
    <p:extLst>
      <p:ext uri="{BB962C8B-B14F-4D97-AF65-F5344CB8AC3E}">
        <p14:creationId xmlns:p14="http://schemas.microsoft.com/office/powerpoint/2010/main" val="53396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F4CD42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 rot="5400000">
            <a:off x="269785" y="1531607"/>
            <a:ext cx="11288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Index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A3EF01DF-3B19-41ED-AD62-319133FD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333" y="581300"/>
            <a:ext cx="5603217" cy="561700"/>
          </a:xfrm>
        </p:spPr>
        <p:txBody>
          <a:bodyPr>
            <a:normAutofit/>
          </a:bodyPr>
          <a:lstStyle/>
          <a:p>
            <a:r>
              <a:rPr lang="en-US" altLang="ko-KR" sz="2800" b="1" i="1" dirty="0">
                <a:solidFill>
                  <a:srgbClr val="64504F"/>
                </a:solidFill>
              </a:rPr>
              <a:t>Lab 08 : ICMP</a:t>
            </a:r>
            <a:endParaRPr lang="ko-KR" altLang="en-US" sz="2800" b="1" i="1" dirty="0">
              <a:solidFill>
                <a:srgbClr val="4F403F"/>
              </a:solidFill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863FBB8A-E68E-45A3-9986-AAC406AF1D8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26947" y="1180792"/>
            <a:ext cx="9449066" cy="521024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sz="1800" b="1" i="1" dirty="0">
                <a:solidFill>
                  <a:srgbClr val="576067"/>
                </a:solidFill>
              </a:rPr>
              <a:t>Questions with Ping activities</a:t>
            </a:r>
          </a:p>
          <a:p>
            <a:pPr>
              <a:lnSpc>
                <a:spcPct val="110000"/>
              </a:lnSpc>
              <a:defRPr/>
            </a:pPr>
            <a:endParaRPr lang="en-US" altLang="ko-KR" sz="1000" b="1" i="1" dirty="0">
              <a:solidFill>
                <a:srgbClr val="576067"/>
              </a:solidFill>
            </a:endParaRPr>
          </a:p>
          <a:p>
            <a:pPr marL="731838" lvl="1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one of the ping request packets sent by your host. What are the ICMP type and code numbers? What other fields does this ICMP packet have? </a:t>
            </a:r>
          </a:p>
          <a:p>
            <a:pPr marL="731838" lvl="1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corresponding ping reply packet. What are the ICMP type and code numbers? What other fields does this ICMP packet have? </a:t>
            </a:r>
          </a:p>
          <a:p>
            <a:pPr marL="731838" lvl="1" indent="-457200">
              <a:lnSpc>
                <a:spcPct val="110000"/>
              </a:lnSpc>
              <a:buFont typeface="+mj-lt"/>
              <a:buAutoNum type="arabicPeriod"/>
              <a:defRPr/>
            </a:pPr>
            <a:endParaRPr lang="en-US" altLang="ko-KR" sz="1600" b="1" i="1" dirty="0">
              <a:solidFill>
                <a:srgbClr val="4F403F"/>
              </a:solidFill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ko-KR" sz="1800" b="1" i="1" dirty="0">
                <a:solidFill>
                  <a:srgbClr val="576067"/>
                </a:solidFill>
              </a:rPr>
              <a:t>Questions with Traceroute activities</a:t>
            </a:r>
          </a:p>
          <a:p>
            <a:pPr>
              <a:lnSpc>
                <a:spcPct val="110000"/>
              </a:lnSpc>
              <a:defRPr/>
            </a:pPr>
            <a:endParaRPr lang="en-US" altLang="ko-KR" sz="1000" b="1" i="1" dirty="0">
              <a:solidFill>
                <a:srgbClr val="576067"/>
              </a:solidFill>
            </a:endParaRPr>
          </a:p>
          <a:p>
            <a:pPr marL="731838" lvl="1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ICMP echo packet in your screenshot. Is this different from the ICMP ping query packets in the first half of this lab? If yes, how so? </a:t>
            </a:r>
          </a:p>
          <a:p>
            <a:pPr marL="731838" lvl="1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ICMP error packet in your screenshot. It has more fields than the ICMP echo packet. What is included in those fields? </a:t>
            </a:r>
          </a:p>
          <a:p>
            <a:pPr marL="731838" lvl="1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last three ICMP packets received by the source host. How are these packets different from the ICMP error packets? Why are they different?</a:t>
            </a:r>
          </a:p>
          <a:p>
            <a:pPr marL="731838" lvl="1" indent="-457200">
              <a:lnSpc>
                <a:spcPct val="110000"/>
              </a:lnSpc>
              <a:buFont typeface="+mj-lt"/>
              <a:buAutoNum type="arabicPeriod"/>
              <a:defRPr/>
            </a:pPr>
            <a:r>
              <a:rPr lang="ko-KR" altLang="en-US" sz="1600" b="1" i="1" dirty="0">
                <a:solidFill>
                  <a:srgbClr val="4F403F"/>
                </a:solidFill>
              </a:rPr>
              <a:t>강의노트에서 배운 내용과 다른 점을 찾아라</a:t>
            </a:r>
            <a:r>
              <a:rPr lang="en-US" altLang="ko-KR" sz="1600" b="1" i="1" dirty="0">
                <a:solidFill>
                  <a:srgbClr val="4F403F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0785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F4CD42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 rot="5400000">
            <a:off x="288221" y="1531607"/>
            <a:ext cx="1091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2800" b="1" i="1" dirty="0">
                <a:solidFill>
                  <a:schemeClr val="bg1"/>
                </a:solidFill>
              </a:rPr>
              <a:t>ICMP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F4CD42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1" u="none" strike="noStrike" kern="1200" cap="none" spc="0" normalizeH="0" baseline="0" noProof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7DCEF5-FA37-454E-B82F-75056C4DF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199" y="2832186"/>
            <a:ext cx="3334304" cy="677882"/>
          </a:xfrm>
        </p:spPr>
        <p:txBody>
          <a:bodyPr>
            <a:normAutofit/>
          </a:bodyPr>
          <a:lstStyle/>
          <a:p>
            <a:r>
              <a:rPr lang="en-US" altLang="ko-KR" sz="3200" b="1" i="1" dirty="0">
                <a:solidFill>
                  <a:srgbClr val="64504F"/>
                </a:solidFill>
              </a:rPr>
              <a:t>Lab 08 : ICMP</a:t>
            </a:r>
            <a:endParaRPr lang="ko-KR" altLang="en-US" sz="3200" dirty="0">
              <a:solidFill>
                <a:srgbClr val="4F403F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C57F11-5F5D-4389-9C5F-3D73907D7E4E}"/>
              </a:ext>
            </a:extLst>
          </p:cNvPr>
          <p:cNvSpPr/>
          <p:nvPr/>
        </p:nvSpPr>
        <p:spPr>
          <a:xfrm>
            <a:off x="4732676" y="3439484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i="1" dirty="0">
                <a:solidFill>
                  <a:srgbClr val="576067"/>
                </a:solidFill>
              </a:rPr>
              <a:t>Questions with Ping activities</a:t>
            </a:r>
          </a:p>
        </p:txBody>
      </p:sp>
    </p:spTree>
    <p:extLst>
      <p:ext uri="{BB962C8B-B14F-4D97-AF65-F5344CB8AC3E}">
        <p14:creationId xmlns:p14="http://schemas.microsoft.com/office/powerpoint/2010/main" val="90696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one of the ping request packets sent by your host. What are the ICMP type and code numbers? What other fields does this ICMP packet have?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C99F1F-941C-4880-9D65-5B065D198B96}"/>
              </a:ext>
            </a:extLst>
          </p:cNvPr>
          <p:cNvSpPr/>
          <p:nvPr/>
        </p:nvSpPr>
        <p:spPr>
          <a:xfrm>
            <a:off x="1708958" y="5403222"/>
            <a:ext cx="935562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Cmd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창에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“ping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www.Stanford.edu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”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작성하고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Wireshark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  캡처를 시작한다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i="1" dirty="0">
                <a:solidFill>
                  <a:srgbClr val="576067"/>
                </a:solidFill>
              </a:rPr>
              <a:t>Questions with Ping activities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8F48E3-6203-4648-BB74-00F97A43D1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72" t="18318" r="17873" b="43625"/>
          <a:stretch/>
        </p:blipFill>
        <p:spPr>
          <a:xfrm>
            <a:off x="1988222" y="2092990"/>
            <a:ext cx="9155147" cy="2738913"/>
          </a:xfrm>
          <a:prstGeom prst="rect">
            <a:avLst/>
          </a:prstGeom>
        </p:spPr>
      </p:pic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56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one of the ping request packets sent by your host. What are the ICMP type and code numbers? What other fields does this ICMP packet have?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C99F1F-941C-4880-9D65-5B065D198B96}"/>
              </a:ext>
            </a:extLst>
          </p:cNvPr>
          <p:cNvSpPr/>
          <p:nvPr/>
        </p:nvSpPr>
        <p:spPr>
          <a:xfrm>
            <a:off x="1591259" y="4651405"/>
            <a:ext cx="9355624" cy="1666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Host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에서 보낸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ping request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패킷 중 하나를 확인했을 때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ICMP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Type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은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</a:p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(Echo (ping)) request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이고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, Code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는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0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이다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 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이때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, ICMP Type 8(Echo)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에는  </a:t>
            </a:r>
            <a:endParaRPr lang="en-US" altLang="ko-KR" b="1" dirty="0">
              <a:solidFill>
                <a:srgbClr val="576067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Code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가 존재하지 않기때문에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Code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는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0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이라고 표시된 것이다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3E5682-DBC5-4E89-B4EC-C058AB81146E}"/>
              </a:ext>
            </a:extLst>
          </p:cNvPr>
          <p:cNvGrpSpPr/>
          <p:nvPr/>
        </p:nvGrpSpPr>
        <p:grpSpPr>
          <a:xfrm>
            <a:off x="1505969" y="1929024"/>
            <a:ext cx="9942041" cy="2695956"/>
            <a:chOff x="1505969" y="1929024"/>
            <a:chExt cx="9942041" cy="269595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1993D99-4B63-4EAC-9683-B89468F917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483" t="17057" r="8281" b="39565"/>
            <a:stretch/>
          </p:blipFill>
          <p:spPr>
            <a:xfrm>
              <a:off x="1505969" y="1936623"/>
              <a:ext cx="9942041" cy="268835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54038B8-91E6-450A-957E-88EF76C37EF2}"/>
                </a:ext>
              </a:extLst>
            </p:cNvPr>
            <p:cNvSpPr/>
            <p:nvPr/>
          </p:nvSpPr>
          <p:spPr>
            <a:xfrm>
              <a:off x="1708323" y="1929024"/>
              <a:ext cx="9726028" cy="1639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EB65AFB-B5FD-4898-AE5A-CCB06D919916}"/>
                </a:ext>
              </a:extLst>
            </p:cNvPr>
            <p:cNvSpPr/>
            <p:nvPr/>
          </p:nvSpPr>
          <p:spPr>
            <a:xfrm>
              <a:off x="1677629" y="2859666"/>
              <a:ext cx="2103796" cy="32168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667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3" y="1608550"/>
            <a:ext cx="769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b="1" i="1" dirty="0">
                <a:solidFill>
                  <a:prstClr val="white"/>
                </a:solidFill>
              </a:rPr>
              <a:t>ICMP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one of the ping request packets sent by your host. What are the ICMP type and code numbers? What other fields does this ICMP packet have?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C99F1F-941C-4880-9D65-5B065D198B96}"/>
              </a:ext>
            </a:extLst>
          </p:cNvPr>
          <p:cNvSpPr/>
          <p:nvPr/>
        </p:nvSpPr>
        <p:spPr>
          <a:xfrm>
            <a:off x="1505969" y="4783243"/>
            <a:ext cx="8181391" cy="1112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 Packet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존재하는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fields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 Type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Code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이외에도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C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hecksum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Identifier, Sequence number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존재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한다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437DC3D-E05A-4D99-ABCE-618A47757E0A}"/>
              </a:ext>
            </a:extLst>
          </p:cNvPr>
          <p:cNvGrpSpPr/>
          <p:nvPr/>
        </p:nvGrpSpPr>
        <p:grpSpPr>
          <a:xfrm>
            <a:off x="1505969" y="1852824"/>
            <a:ext cx="9942041" cy="2695956"/>
            <a:chOff x="1505969" y="1929024"/>
            <a:chExt cx="9942041" cy="269595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1993D99-4B63-4EAC-9683-B89468F917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483" t="17057" r="8281" b="39565"/>
            <a:stretch/>
          </p:blipFill>
          <p:spPr>
            <a:xfrm>
              <a:off x="1505969" y="1936623"/>
              <a:ext cx="9942041" cy="268835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54038B8-91E6-450A-957E-88EF76C37EF2}"/>
                </a:ext>
              </a:extLst>
            </p:cNvPr>
            <p:cNvSpPr/>
            <p:nvPr/>
          </p:nvSpPr>
          <p:spPr>
            <a:xfrm>
              <a:off x="1708323" y="1929024"/>
              <a:ext cx="9726028" cy="1639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EB65AFB-B5FD-4898-AE5A-CCB06D919916}"/>
                </a:ext>
              </a:extLst>
            </p:cNvPr>
            <p:cNvSpPr/>
            <p:nvPr/>
          </p:nvSpPr>
          <p:spPr>
            <a:xfrm>
              <a:off x="1677629" y="2859666"/>
              <a:ext cx="2522896" cy="154088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487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3" y="1608550"/>
            <a:ext cx="769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b="1" i="1" dirty="0">
                <a:solidFill>
                  <a:prstClr val="white"/>
                </a:solidFill>
              </a:rPr>
              <a:t>ICMP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one of the ping request packets sent by your host. What are the ICMP type and code numbers? What other fields does this ICMP packet have?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C99F1F-941C-4880-9D65-5B065D198B96}"/>
              </a:ext>
            </a:extLst>
          </p:cNvPr>
          <p:cNvSpPr/>
          <p:nvPr/>
        </p:nvSpPr>
        <p:spPr>
          <a:xfrm>
            <a:off x="1495943" y="4443801"/>
            <a:ext cx="81813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Checksum : 0x4d5a [correct]</a:t>
            </a: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[Checksum status: Good]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Identifier (</a:t>
            </a:r>
            <a:r>
              <a:rPr lang="en-US" altLang="ko-KR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BE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: 1 (0x0001)</a:t>
            </a:r>
          </a:p>
          <a:p>
            <a:pPr marL="285750" indent="-285750"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rgbClr val="4472C4"/>
                </a:solidFill>
              </a:rPr>
              <a:t>Identifier (LE) : 256 (0x0100)</a:t>
            </a:r>
          </a:p>
          <a:p>
            <a:pPr marL="285750" lvl="0" indent="-285750"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rgbClr val="4472C4"/>
                </a:solidFill>
              </a:rPr>
              <a:t>Sequence number (BE) : 1 (0x0001)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Sequence number</a:t>
            </a:r>
            <a:r>
              <a:rPr lang="ko-KR" altLang="en-US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(LE) :</a:t>
            </a:r>
            <a:r>
              <a:rPr lang="ko-KR" altLang="en-US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256 (0x0100)</a:t>
            </a: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[Response frame: 354]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437DC3D-E05A-4D99-ABCE-618A47757E0A}"/>
              </a:ext>
            </a:extLst>
          </p:cNvPr>
          <p:cNvGrpSpPr/>
          <p:nvPr/>
        </p:nvGrpSpPr>
        <p:grpSpPr>
          <a:xfrm>
            <a:off x="1505969" y="1852824"/>
            <a:ext cx="9942041" cy="2695956"/>
            <a:chOff x="1505969" y="1929024"/>
            <a:chExt cx="9942041" cy="269595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1993D99-4B63-4EAC-9683-B89468F917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483" t="17057" r="8281" b="39565"/>
            <a:stretch/>
          </p:blipFill>
          <p:spPr>
            <a:xfrm>
              <a:off x="1505969" y="1936623"/>
              <a:ext cx="9942041" cy="268835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54038B8-91E6-450A-957E-88EF76C37EF2}"/>
                </a:ext>
              </a:extLst>
            </p:cNvPr>
            <p:cNvSpPr/>
            <p:nvPr/>
          </p:nvSpPr>
          <p:spPr>
            <a:xfrm>
              <a:off x="1708323" y="1929024"/>
              <a:ext cx="9726028" cy="1639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EB65AFB-B5FD-4898-AE5A-CCB06D919916}"/>
                </a:ext>
              </a:extLst>
            </p:cNvPr>
            <p:cNvSpPr/>
            <p:nvPr/>
          </p:nvSpPr>
          <p:spPr>
            <a:xfrm>
              <a:off x="1677629" y="2859666"/>
              <a:ext cx="2522896" cy="154088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81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one of the ping request packets sent by your host. What are the ICMP type and code numbers? What other fields does this ICMP packet have?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C99F1F-941C-4880-9D65-5B065D198B96}"/>
              </a:ext>
            </a:extLst>
          </p:cNvPr>
          <p:cNvSpPr/>
          <p:nvPr/>
        </p:nvSpPr>
        <p:spPr>
          <a:xfrm>
            <a:off x="1505969" y="4567244"/>
            <a:ext cx="8181391" cy="1666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Checksum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2byte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Identifier (BE) + Identifier (LE)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2byte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Sequence number (BE) + Sequence number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(LE)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2byte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2FB07F9-E188-4C7D-A369-387E6C2235A1}"/>
              </a:ext>
            </a:extLst>
          </p:cNvPr>
          <p:cNvGrpSpPr/>
          <p:nvPr/>
        </p:nvGrpSpPr>
        <p:grpSpPr>
          <a:xfrm>
            <a:off x="1552902" y="1913013"/>
            <a:ext cx="9881449" cy="2603735"/>
            <a:chOff x="1552902" y="1913013"/>
            <a:chExt cx="9881449" cy="2603735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23C22DF-96CF-4FCB-B3C3-2D056DC3151D}"/>
                </a:ext>
              </a:extLst>
            </p:cNvPr>
            <p:cNvGrpSpPr/>
            <p:nvPr/>
          </p:nvGrpSpPr>
          <p:grpSpPr>
            <a:xfrm>
              <a:off x="1552902" y="1913013"/>
              <a:ext cx="9881449" cy="2602163"/>
              <a:chOff x="1552902" y="1913013"/>
              <a:chExt cx="9881449" cy="2602163"/>
            </a:xfrm>
          </p:grpSpPr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5DF7602A-C52B-4914-8EC8-028DFB2B76D4}"/>
                  </a:ext>
                </a:extLst>
              </p:cNvPr>
              <p:cNvGrpSpPr/>
              <p:nvPr/>
            </p:nvGrpSpPr>
            <p:grpSpPr>
              <a:xfrm>
                <a:off x="1579193" y="1913013"/>
                <a:ext cx="9855158" cy="2602163"/>
                <a:chOff x="1579193" y="1864501"/>
                <a:chExt cx="9855158" cy="2602163"/>
              </a:xfrm>
            </p:grpSpPr>
            <p:grpSp>
              <p:nvGrpSpPr>
                <p:cNvPr id="13" name="그룹 12">
                  <a:extLst>
                    <a:ext uri="{FF2B5EF4-FFF2-40B4-BE49-F238E27FC236}">
                      <a16:creationId xmlns:a16="http://schemas.microsoft.com/office/drawing/2014/main" id="{3F20AF42-29C7-4E24-B07C-8547F05CA3F5}"/>
                    </a:ext>
                  </a:extLst>
                </p:cNvPr>
                <p:cNvGrpSpPr/>
                <p:nvPr/>
              </p:nvGrpSpPr>
              <p:grpSpPr>
                <a:xfrm>
                  <a:off x="1579193" y="1864501"/>
                  <a:ext cx="5412922" cy="2602163"/>
                  <a:chOff x="1807389" y="1864501"/>
                  <a:chExt cx="5412922" cy="2602163"/>
                </a:xfrm>
              </p:grpSpPr>
              <p:pic>
                <p:nvPicPr>
                  <p:cNvPr id="10" name="그림 9">
                    <a:extLst>
                      <a:ext uri="{FF2B5EF4-FFF2-40B4-BE49-F238E27FC236}">
                        <a16:creationId xmlns:a16="http://schemas.microsoft.com/office/drawing/2014/main" id="{9ADB0176-EC95-48CB-AF1E-58F88F414C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3216" t="36944" r="52386" b="50767"/>
                  <a:stretch/>
                </p:blipFill>
                <p:spPr>
                  <a:xfrm>
                    <a:off x="1807389" y="1864501"/>
                    <a:ext cx="5412922" cy="842765"/>
                  </a:xfrm>
                  <a:prstGeom prst="rect">
                    <a:avLst/>
                  </a:prstGeom>
                </p:spPr>
              </p:pic>
              <p:pic>
                <p:nvPicPr>
                  <p:cNvPr id="11" name="그림 10">
                    <a:extLst>
                      <a:ext uri="{FF2B5EF4-FFF2-40B4-BE49-F238E27FC236}">
                        <a16:creationId xmlns:a16="http://schemas.microsoft.com/office/drawing/2014/main" id="{8357783E-7BB2-460D-9981-EDFAEFB7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3434" t="34861" r="52384" b="51077"/>
                  <a:stretch/>
                </p:blipFill>
                <p:spPr>
                  <a:xfrm>
                    <a:off x="1807389" y="2707266"/>
                    <a:ext cx="5386631" cy="964429"/>
                  </a:xfrm>
                  <a:prstGeom prst="rect">
                    <a:avLst/>
                  </a:prstGeom>
                </p:spPr>
              </p:pic>
              <p:pic>
                <p:nvPicPr>
                  <p:cNvPr id="12" name="그림 11">
                    <a:extLst>
                      <a:ext uri="{FF2B5EF4-FFF2-40B4-BE49-F238E27FC236}">
                        <a16:creationId xmlns:a16="http://schemas.microsoft.com/office/drawing/2014/main" id="{0DEBEE2F-BD1F-4217-813A-3562A5DA2F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3308" t="37254" r="52576" b="51154"/>
                  <a:stretch/>
                </p:blipFill>
                <p:spPr>
                  <a:xfrm>
                    <a:off x="1811377" y="3671696"/>
                    <a:ext cx="5378654" cy="79496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62E723BE-DD45-49E4-AFE1-98134C960012}"/>
                    </a:ext>
                  </a:extLst>
                </p:cNvPr>
                <p:cNvGrpSpPr/>
                <p:nvPr/>
              </p:nvGrpSpPr>
              <p:grpSpPr>
                <a:xfrm>
                  <a:off x="6021429" y="2060777"/>
                  <a:ext cx="5412922" cy="2113021"/>
                  <a:chOff x="6021429" y="1878981"/>
                  <a:chExt cx="5412922" cy="2113021"/>
                </a:xfrm>
              </p:grpSpPr>
              <p:pic>
                <p:nvPicPr>
                  <p:cNvPr id="14" name="그림 13">
                    <a:extLst>
                      <a:ext uri="{FF2B5EF4-FFF2-40B4-BE49-F238E27FC236}">
                        <a16:creationId xmlns:a16="http://schemas.microsoft.com/office/drawing/2014/main" id="{F9E4F3AA-8825-45EE-9AAA-DFD08EF718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3218" t="31802" r="52385" b="51392"/>
                  <a:stretch/>
                </p:blipFill>
                <p:spPr>
                  <a:xfrm>
                    <a:off x="6021429" y="1878981"/>
                    <a:ext cx="5412922" cy="1152546"/>
                  </a:xfrm>
                  <a:prstGeom prst="rect">
                    <a:avLst/>
                  </a:prstGeom>
                </p:spPr>
              </p:pic>
              <p:pic>
                <p:nvPicPr>
                  <p:cNvPr id="16" name="그림 15">
                    <a:extLst>
                      <a:ext uri="{FF2B5EF4-FFF2-40B4-BE49-F238E27FC236}">
                        <a16:creationId xmlns:a16="http://schemas.microsoft.com/office/drawing/2014/main" id="{60EE17CF-5101-47CB-A8A7-3FCA74D93B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3466" t="34861" r="53039" b="51076"/>
                  <a:stretch/>
                </p:blipFill>
                <p:spPr>
                  <a:xfrm>
                    <a:off x="6021429" y="3027573"/>
                    <a:ext cx="5378654" cy="96442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ABB1C891-83DC-4BA2-B204-FD61128F2DAB}"/>
                  </a:ext>
                </a:extLst>
              </p:cNvPr>
              <p:cNvSpPr/>
              <p:nvPr/>
            </p:nvSpPr>
            <p:spPr>
              <a:xfrm>
                <a:off x="6021429" y="2109289"/>
                <a:ext cx="2684421" cy="35362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A2C79E5D-B11E-4988-9413-758717011A3B}"/>
                  </a:ext>
                </a:extLst>
              </p:cNvPr>
              <p:cNvSpPr/>
              <p:nvPr/>
            </p:nvSpPr>
            <p:spPr>
              <a:xfrm>
                <a:off x="6021429" y="3254654"/>
                <a:ext cx="2684421" cy="20345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272EE6F-3E6B-4619-BDEE-95D82AFFF551}"/>
                  </a:ext>
                </a:extLst>
              </p:cNvPr>
              <p:cNvSpPr/>
              <p:nvPr/>
            </p:nvSpPr>
            <p:spPr>
              <a:xfrm>
                <a:off x="1552902" y="2750199"/>
                <a:ext cx="2304723" cy="35051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7A329BCE-2E32-41F0-A004-E84E441541C6}"/>
                  </a:ext>
                </a:extLst>
              </p:cNvPr>
              <p:cNvSpPr/>
              <p:nvPr/>
            </p:nvSpPr>
            <p:spPr>
              <a:xfrm>
                <a:off x="1569167" y="1940748"/>
                <a:ext cx="2304723" cy="21661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59D43C82-0619-42C9-850D-79F2956B358F}"/>
                  </a:ext>
                </a:extLst>
              </p:cNvPr>
              <p:cNvSpPr/>
              <p:nvPr/>
            </p:nvSpPr>
            <p:spPr>
              <a:xfrm>
                <a:off x="1552902" y="3714628"/>
                <a:ext cx="2304723" cy="22884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EE19016-7A66-4BE8-A925-EE8D00EB9E22}"/>
                </a:ext>
              </a:extLst>
            </p:cNvPr>
            <p:cNvSpPr/>
            <p:nvPr/>
          </p:nvSpPr>
          <p:spPr>
            <a:xfrm>
              <a:off x="2640902" y="2530752"/>
              <a:ext cx="397573" cy="1860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A448BF3-7E87-4AF9-9B10-B9A0EBF46E19}"/>
                </a:ext>
              </a:extLst>
            </p:cNvPr>
            <p:cNvSpPr/>
            <p:nvPr/>
          </p:nvSpPr>
          <p:spPr>
            <a:xfrm>
              <a:off x="3063034" y="3530754"/>
              <a:ext cx="397573" cy="1860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F47D25A-AE91-48FF-ADBA-3B74B4170C5B}"/>
                </a:ext>
              </a:extLst>
            </p:cNvPr>
            <p:cNvSpPr/>
            <p:nvPr/>
          </p:nvSpPr>
          <p:spPr>
            <a:xfrm>
              <a:off x="3074365" y="4330709"/>
              <a:ext cx="397573" cy="1860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2EEEF3D-F476-403D-9206-033B01A9BDF8}"/>
                </a:ext>
              </a:extLst>
            </p:cNvPr>
            <p:cNvSpPr/>
            <p:nvPr/>
          </p:nvSpPr>
          <p:spPr>
            <a:xfrm>
              <a:off x="8064992" y="3074835"/>
              <a:ext cx="397573" cy="1860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E4FE015-E221-456D-B05F-C44331251A1D}"/>
                </a:ext>
              </a:extLst>
            </p:cNvPr>
            <p:cNvSpPr/>
            <p:nvPr/>
          </p:nvSpPr>
          <p:spPr>
            <a:xfrm>
              <a:off x="8064992" y="4039498"/>
              <a:ext cx="397573" cy="1860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412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corresponding ping reply packet. What are the ICMP type and code numbers? What other fields does this ICMP packet have?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1D7B76F-9CE1-4803-8E14-8842967FA5E9}"/>
              </a:ext>
            </a:extLst>
          </p:cNvPr>
          <p:cNvGrpSpPr/>
          <p:nvPr/>
        </p:nvGrpSpPr>
        <p:grpSpPr>
          <a:xfrm>
            <a:off x="1508785" y="2008537"/>
            <a:ext cx="9855158" cy="2052888"/>
            <a:chOff x="1508785" y="1845451"/>
            <a:chExt cx="9855158" cy="205288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63731A-9134-454D-8AE5-EF36E4A04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84" t="17569" r="7294" b="48889"/>
            <a:stretch/>
          </p:blipFill>
          <p:spPr>
            <a:xfrm>
              <a:off x="1508785" y="1864501"/>
              <a:ext cx="9855158" cy="203383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5E546D-64B1-45E0-A4A2-268D33270CC4}"/>
                </a:ext>
              </a:extLst>
            </p:cNvPr>
            <p:cNvSpPr/>
            <p:nvPr/>
          </p:nvSpPr>
          <p:spPr>
            <a:xfrm>
              <a:off x="1743075" y="1845451"/>
              <a:ext cx="9620868" cy="1735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0C1A741-AB33-4558-AE6C-8F3ECB3F0D99}"/>
                </a:ext>
              </a:extLst>
            </p:cNvPr>
            <p:cNvSpPr/>
            <p:nvPr/>
          </p:nvSpPr>
          <p:spPr>
            <a:xfrm>
              <a:off x="1708323" y="2228324"/>
              <a:ext cx="1892620" cy="33391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B3C3A4C-9552-4341-8FD8-B319C8DC6851}"/>
              </a:ext>
            </a:extLst>
          </p:cNvPr>
          <p:cNvSpPr/>
          <p:nvPr/>
        </p:nvSpPr>
        <p:spPr>
          <a:xfrm>
            <a:off x="1661922" y="4187497"/>
            <a:ext cx="9355624" cy="1666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Host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에서 보낸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ping reply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패킷 중 하나를 확인했을 때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ICMP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Type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은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0</a:t>
            </a:r>
          </a:p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(Echo (ping)) reply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이고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, Code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는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0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이다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 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이때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, ICMP Type 0(Echo reply)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에는  </a:t>
            </a:r>
            <a:endParaRPr lang="en-US" altLang="ko-KR" b="1" dirty="0">
              <a:solidFill>
                <a:srgbClr val="576067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Code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가 존재하지 않기때문에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Code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는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0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이라고 표시된 것이다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7297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the corresponding ping reply packet. What are the ICMP type and code numbers? What other fields does this ICMP packet have?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CB1F90A-5CB8-4280-9284-71D96DBAAEBA}"/>
              </a:ext>
            </a:extLst>
          </p:cNvPr>
          <p:cNvGrpSpPr/>
          <p:nvPr/>
        </p:nvGrpSpPr>
        <p:grpSpPr>
          <a:xfrm>
            <a:off x="1519335" y="1994058"/>
            <a:ext cx="9855158" cy="2067367"/>
            <a:chOff x="1508785" y="1845451"/>
            <a:chExt cx="9855158" cy="206736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63731A-9134-454D-8AE5-EF36E4A04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84" t="17569" r="7294" b="48889"/>
            <a:stretch/>
          </p:blipFill>
          <p:spPr>
            <a:xfrm>
              <a:off x="1508785" y="1864501"/>
              <a:ext cx="9855158" cy="203383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5E546D-64B1-45E0-A4A2-268D33270CC4}"/>
                </a:ext>
              </a:extLst>
            </p:cNvPr>
            <p:cNvSpPr/>
            <p:nvPr/>
          </p:nvSpPr>
          <p:spPr>
            <a:xfrm>
              <a:off x="1743075" y="1845451"/>
              <a:ext cx="9620868" cy="1735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0C1A741-AB33-4558-AE6C-8F3ECB3F0D99}"/>
                </a:ext>
              </a:extLst>
            </p:cNvPr>
            <p:cNvSpPr/>
            <p:nvPr/>
          </p:nvSpPr>
          <p:spPr>
            <a:xfrm>
              <a:off x="1708323" y="2228323"/>
              <a:ext cx="2377902" cy="168449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7A2EA2A-1AF8-469D-A147-0E56B20661ED}"/>
              </a:ext>
            </a:extLst>
          </p:cNvPr>
          <p:cNvSpPr/>
          <p:nvPr/>
        </p:nvSpPr>
        <p:spPr>
          <a:xfrm>
            <a:off x="1609644" y="4397027"/>
            <a:ext cx="8181391" cy="1354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 Packet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존재하는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fields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 Type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Code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이외에도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C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hecksum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Identifier, Sequence number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존재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한다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08751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the corresponding ping reply packet. What are the ICMP type and code numbers? What other fields does this ICMP packet have?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CB1F90A-5CB8-4280-9284-71D96DBAAEBA}"/>
              </a:ext>
            </a:extLst>
          </p:cNvPr>
          <p:cNvGrpSpPr/>
          <p:nvPr/>
        </p:nvGrpSpPr>
        <p:grpSpPr>
          <a:xfrm>
            <a:off x="1508785" y="1845451"/>
            <a:ext cx="9855158" cy="2067367"/>
            <a:chOff x="1508785" y="1845451"/>
            <a:chExt cx="9855158" cy="206736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63731A-9134-454D-8AE5-EF36E4A04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84" t="17569" r="7294" b="48889"/>
            <a:stretch/>
          </p:blipFill>
          <p:spPr>
            <a:xfrm>
              <a:off x="1508785" y="1864501"/>
              <a:ext cx="9855158" cy="203383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5E546D-64B1-45E0-A4A2-268D33270CC4}"/>
                </a:ext>
              </a:extLst>
            </p:cNvPr>
            <p:cNvSpPr/>
            <p:nvPr/>
          </p:nvSpPr>
          <p:spPr>
            <a:xfrm>
              <a:off x="1743075" y="1845451"/>
              <a:ext cx="9620868" cy="1735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0C1A741-AB33-4558-AE6C-8F3ECB3F0D99}"/>
                </a:ext>
              </a:extLst>
            </p:cNvPr>
            <p:cNvSpPr/>
            <p:nvPr/>
          </p:nvSpPr>
          <p:spPr>
            <a:xfrm>
              <a:off x="1708323" y="2228323"/>
              <a:ext cx="2377902" cy="168449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F7DEE8-BE80-4407-A4B7-77B557928C11}"/>
              </a:ext>
            </a:extLst>
          </p:cNvPr>
          <p:cNvSpPr/>
          <p:nvPr/>
        </p:nvSpPr>
        <p:spPr>
          <a:xfrm>
            <a:off x="1601219" y="3980379"/>
            <a:ext cx="81813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Checksum : 0x555a [correct]</a:t>
            </a: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[Checksum status: Good]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Identifier (</a:t>
            </a:r>
            <a:r>
              <a:rPr lang="en-US" altLang="ko-KR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BE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: 1 (0x0001)</a:t>
            </a:r>
          </a:p>
          <a:p>
            <a:pPr marL="285750" indent="-285750"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rgbClr val="4472C4"/>
                </a:solidFill>
              </a:rPr>
              <a:t>Identifier (LE) : 256 (0x0100)</a:t>
            </a:r>
          </a:p>
          <a:p>
            <a:pPr marL="285750" lvl="0" indent="-285750"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rgbClr val="4472C4"/>
                </a:solidFill>
              </a:rPr>
              <a:t>Sequence number (BE) : 1 (0x0001)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Sequence number</a:t>
            </a:r>
            <a:r>
              <a:rPr lang="ko-KR" altLang="en-US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(LE) :</a:t>
            </a:r>
            <a:r>
              <a:rPr lang="ko-KR" altLang="en-US" b="1" dirty="0">
                <a:solidFill>
                  <a:srgbClr val="4472C4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256 (0x0100)</a:t>
            </a: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[Request frame: 323]</a:t>
            </a:r>
          </a:p>
          <a:p>
            <a:pPr marL="285750" marR="0" lvl="0" indent="-28575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[Response time: 258.209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ms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56253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the corresponding ping reply packet. What are the ICMP type and code numbers? What other fields does this ICMP packet have?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D3A68A-E6D5-4158-BC72-ED5709172418}"/>
              </a:ext>
            </a:extLst>
          </p:cNvPr>
          <p:cNvSpPr/>
          <p:nvPr/>
        </p:nvSpPr>
        <p:spPr>
          <a:xfrm>
            <a:off x="4970438" y="667060"/>
            <a:ext cx="3459601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Ping activities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1822471-CE48-4266-8BFD-58AE2A49C646}"/>
              </a:ext>
            </a:extLst>
          </p:cNvPr>
          <p:cNvSpPr/>
          <p:nvPr/>
        </p:nvSpPr>
        <p:spPr>
          <a:xfrm>
            <a:off x="1576965" y="4490061"/>
            <a:ext cx="8181391" cy="1666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Checksum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2byte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Identifier (BE) + Identifier (LE)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2byte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Sequence number (BE) + Sequence number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(LE)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2byte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B67F43-245F-472C-B05B-2DBB02FAA382}"/>
              </a:ext>
            </a:extLst>
          </p:cNvPr>
          <p:cNvGrpSpPr/>
          <p:nvPr/>
        </p:nvGrpSpPr>
        <p:grpSpPr>
          <a:xfrm>
            <a:off x="1576965" y="1907394"/>
            <a:ext cx="9862399" cy="2441997"/>
            <a:chOff x="1576965" y="1907394"/>
            <a:chExt cx="9862399" cy="244199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B65CA44-3D89-4678-B03D-BC7A64486689}"/>
                </a:ext>
              </a:extLst>
            </p:cNvPr>
            <p:cNvGrpSpPr/>
            <p:nvPr/>
          </p:nvGrpSpPr>
          <p:grpSpPr>
            <a:xfrm>
              <a:off x="1579193" y="1907394"/>
              <a:ext cx="9860171" cy="2441997"/>
              <a:chOff x="1579193" y="1907394"/>
              <a:chExt cx="9860171" cy="2441997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AB67CA07-97D3-4D86-BB3A-D50385F90EA2}"/>
                  </a:ext>
                </a:extLst>
              </p:cNvPr>
              <p:cNvGrpSpPr/>
              <p:nvPr/>
            </p:nvGrpSpPr>
            <p:grpSpPr>
              <a:xfrm>
                <a:off x="1579193" y="1907394"/>
                <a:ext cx="5522030" cy="2441997"/>
                <a:chOff x="1689596" y="1947645"/>
                <a:chExt cx="5522030" cy="2441997"/>
              </a:xfrm>
            </p:grpSpPr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A62290F3-73C6-431D-8FC7-D55102806D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3054" t="38073" r="51808" b="51037"/>
                <a:stretch/>
              </p:blipFill>
              <p:spPr>
                <a:xfrm>
                  <a:off x="1708323" y="1947645"/>
                  <a:ext cx="5503303" cy="746813"/>
                </a:xfrm>
                <a:prstGeom prst="rect">
                  <a:avLst/>
                </a:prstGeom>
              </p:spPr>
            </p:pic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557B9261-599A-4695-8084-A70AD7C2A7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89596" y="2694458"/>
                  <a:ext cx="5503303" cy="928993"/>
                </a:xfrm>
                <a:prstGeom prst="rect">
                  <a:avLst/>
                </a:prstGeom>
              </p:spPr>
            </p:pic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FFE1822F-4E75-4575-B82B-9ED3378DBC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203" t="37362" r="52385" b="51215"/>
                <a:stretch/>
              </p:blipFill>
              <p:spPr>
                <a:xfrm>
                  <a:off x="1706096" y="3606286"/>
                  <a:ext cx="5486803" cy="783356"/>
                </a:xfrm>
                <a:prstGeom prst="rect">
                  <a:avLst/>
                </a:prstGeom>
              </p:spPr>
            </p:pic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A5CF65B5-F0A8-4624-A132-67CB798BD4EC}"/>
                  </a:ext>
                </a:extLst>
              </p:cNvPr>
              <p:cNvGrpSpPr/>
              <p:nvPr/>
            </p:nvGrpSpPr>
            <p:grpSpPr>
              <a:xfrm>
                <a:off x="5934035" y="2321052"/>
                <a:ext cx="5505329" cy="1698858"/>
                <a:chOff x="5929022" y="1907394"/>
                <a:chExt cx="5505329" cy="1698858"/>
              </a:xfrm>
            </p:grpSpPr>
            <p:pic>
              <p:nvPicPr>
                <p:cNvPr id="13" name="그림 12">
                  <a:extLst>
                    <a:ext uri="{FF2B5EF4-FFF2-40B4-BE49-F238E27FC236}">
                      <a16:creationId xmlns:a16="http://schemas.microsoft.com/office/drawing/2014/main" id="{996E4EC9-61F6-474F-A144-1BD5C844ED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190" t="35000" r="51807" b="51344"/>
                <a:stretch/>
              </p:blipFill>
              <p:spPr>
                <a:xfrm>
                  <a:off x="5947548" y="1907394"/>
                  <a:ext cx="5486803" cy="936564"/>
                </a:xfrm>
                <a:prstGeom prst="rect">
                  <a:avLst/>
                </a:prstGeom>
              </p:spPr>
            </p:pic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C3C07F52-BEAE-4802-9B7A-4B7487D7D2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3365" t="37309" r="52700" b="51269"/>
                <a:stretch/>
              </p:blipFill>
              <p:spPr>
                <a:xfrm>
                  <a:off x="5929022" y="2822896"/>
                  <a:ext cx="5486802" cy="783356"/>
                </a:xfrm>
                <a:prstGeom prst="rect">
                  <a:avLst/>
                </a:prstGeom>
              </p:spPr>
            </p:pic>
          </p:grp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DAC7E75-294E-470C-ADE9-94187700756E}"/>
                </a:ext>
              </a:extLst>
            </p:cNvPr>
            <p:cNvSpPr/>
            <p:nvPr/>
          </p:nvSpPr>
          <p:spPr>
            <a:xfrm>
              <a:off x="1635710" y="1907394"/>
              <a:ext cx="2040940" cy="1855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FC8DA7F-EF3C-475F-AE2D-16A021FFE51A}"/>
                </a:ext>
              </a:extLst>
            </p:cNvPr>
            <p:cNvSpPr/>
            <p:nvPr/>
          </p:nvSpPr>
          <p:spPr>
            <a:xfrm>
              <a:off x="1576965" y="3581647"/>
              <a:ext cx="2318759" cy="21940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CD014F8-376E-4D29-AF88-B7A24E84ADDC}"/>
                </a:ext>
              </a:extLst>
            </p:cNvPr>
            <p:cNvSpPr/>
            <p:nvPr/>
          </p:nvSpPr>
          <p:spPr>
            <a:xfrm>
              <a:off x="5960369" y="2334419"/>
              <a:ext cx="2650231" cy="3728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935F8D0-8519-4F38-9EA5-8DAC011AD7C3}"/>
                </a:ext>
              </a:extLst>
            </p:cNvPr>
            <p:cNvSpPr/>
            <p:nvPr/>
          </p:nvSpPr>
          <p:spPr>
            <a:xfrm>
              <a:off x="1587894" y="2656372"/>
              <a:ext cx="2397105" cy="3769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5A7AC6D-30C2-4D59-9C12-07E251734CD3}"/>
                </a:ext>
              </a:extLst>
            </p:cNvPr>
            <p:cNvSpPr/>
            <p:nvPr/>
          </p:nvSpPr>
          <p:spPr>
            <a:xfrm>
              <a:off x="5928130" y="3268483"/>
              <a:ext cx="2682470" cy="2049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7902870-81BA-48CF-BC60-5EA44AE4AA1C}"/>
                </a:ext>
              </a:extLst>
            </p:cNvPr>
            <p:cNvSpPr/>
            <p:nvPr/>
          </p:nvSpPr>
          <p:spPr>
            <a:xfrm>
              <a:off x="3110813" y="4161072"/>
              <a:ext cx="432487" cy="1873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625F2E9-6598-4ECA-A598-FE2CEAF590B1}"/>
                </a:ext>
              </a:extLst>
            </p:cNvPr>
            <p:cNvSpPr/>
            <p:nvPr/>
          </p:nvSpPr>
          <p:spPr>
            <a:xfrm>
              <a:off x="3123542" y="3398377"/>
              <a:ext cx="432487" cy="1873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531E411-156B-4555-8E14-F2EFCBD2E8D8}"/>
                </a:ext>
              </a:extLst>
            </p:cNvPr>
            <p:cNvSpPr/>
            <p:nvPr/>
          </p:nvSpPr>
          <p:spPr>
            <a:xfrm>
              <a:off x="2662661" y="2447156"/>
              <a:ext cx="432487" cy="1873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492AFE7-0A8E-4811-B599-9D72549D43A3}"/>
                </a:ext>
              </a:extLst>
            </p:cNvPr>
            <p:cNvSpPr/>
            <p:nvPr/>
          </p:nvSpPr>
          <p:spPr>
            <a:xfrm>
              <a:off x="7978502" y="3066211"/>
              <a:ext cx="432487" cy="1873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83861E2-7F63-49A5-A8C0-46143520ED20}"/>
                </a:ext>
              </a:extLst>
            </p:cNvPr>
            <p:cNvSpPr/>
            <p:nvPr/>
          </p:nvSpPr>
          <p:spPr>
            <a:xfrm>
              <a:off x="7997552" y="3827740"/>
              <a:ext cx="432487" cy="1873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454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F4CD42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CAA1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 rot="5400000">
            <a:off x="288221" y="1531607"/>
            <a:ext cx="1091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F4CD42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1" u="none" strike="noStrike" kern="1200" cap="none" spc="0" normalizeH="0" baseline="0" noProof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7DCEF5-FA37-454E-B82F-75056C4DF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199" y="2832186"/>
            <a:ext cx="3334304" cy="677882"/>
          </a:xfrm>
        </p:spPr>
        <p:txBody>
          <a:bodyPr>
            <a:normAutofit/>
          </a:bodyPr>
          <a:lstStyle/>
          <a:p>
            <a:r>
              <a:rPr lang="en-US" altLang="ko-KR" sz="3200" b="1" i="1" dirty="0">
                <a:solidFill>
                  <a:srgbClr val="64504F"/>
                </a:solidFill>
              </a:rPr>
              <a:t>Lab 08 : ICMP</a:t>
            </a:r>
            <a:endParaRPr lang="ko-KR" altLang="en-US" sz="3200" dirty="0">
              <a:solidFill>
                <a:srgbClr val="4F403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D36AA7-C94F-43C1-9E97-BDD65CEF4C34}"/>
              </a:ext>
            </a:extLst>
          </p:cNvPr>
          <p:cNvSpPr/>
          <p:nvPr/>
        </p:nvSpPr>
        <p:spPr>
          <a:xfrm>
            <a:off x="4368318" y="3533120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i="1" dirty="0">
                <a:solidFill>
                  <a:srgbClr val="576067"/>
                </a:solidFill>
              </a:rPr>
              <a:t>Questions with Traceroute activities</a:t>
            </a:r>
          </a:p>
        </p:txBody>
      </p:sp>
    </p:spTree>
    <p:extLst>
      <p:ext uri="{BB962C8B-B14F-4D97-AF65-F5344CB8AC3E}">
        <p14:creationId xmlns:p14="http://schemas.microsoft.com/office/powerpoint/2010/main" val="2377765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ICMP echo packet in your screenshot. Is this different from the ICMP ping query packets in the first half of this lab? If yes, how so?</a:t>
            </a:r>
            <a:endParaRPr kumimoji="0" lang="en-US" altLang="ko-KR" sz="1600" b="1" i="1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i="1" dirty="0">
                <a:solidFill>
                  <a:srgbClr val="576067"/>
                </a:solidFill>
              </a:rPr>
              <a:t>Questions with Traceroute activities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E2AC7E-B97B-4083-A99A-7C2446BC7A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92" r="30806" b="7247"/>
          <a:stretch/>
        </p:blipFill>
        <p:spPr>
          <a:xfrm>
            <a:off x="3737679" y="1864501"/>
            <a:ext cx="5490415" cy="377866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4C4A02-F7D8-4B7F-BFEB-BADDDD30E425}"/>
              </a:ext>
            </a:extLst>
          </p:cNvPr>
          <p:cNvSpPr/>
          <p:nvPr/>
        </p:nvSpPr>
        <p:spPr>
          <a:xfrm>
            <a:off x="1420177" y="5546097"/>
            <a:ext cx="10136090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Cmd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창에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“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tracert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www.Stanford.edu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”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작성하고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Wireshark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  캡처를 시작한다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47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the ICMP echo packet in your screenshot. Is this different from the ICMP ping query packets in the first half of this lab? If yes, how so?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100F95F-6946-4E3F-B6C3-C004EA1D3431}"/>
              </a:ext>
            </a:extLst>
          </p:cNvPr>
          <p:cNvGrpSpPr/>
          <p:nvPr/>
        </p:nvGrpSpPr>
        <p:grpSpPr>
          <a:xfrm>
            <a:off x="1622704" y="2008824"/>
            <a:ext cx="9764560" cy="4218111"/>
            <a:chOff x="1622704" y="2008824"/>
            <a:chExt cx="9764560" cy="421811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4EC5339-A142-4A4F-B5EF-B9AF65ABB7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6458" r="4097" b="48199"/>
            <a:stretch/>
          </p:blipFill>
          <p:spPr>
            <a:xfrm>
              <a:off x="1622704" y="4202765"/>
              <a:ext cx="9764560" cy="202416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3ACB16A-D4B1-4A0C-9CBC-B071CED9A3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7670" r="8746" b="47865"/>
            <a:stretch/>
          </p:blipFill>
          <p:spPr>
            <a:xfrm>
              <a:off x="1622704" y="2008824"/>
              <a:ext cx="9528131" cy="202416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97F5DF-2445-4CB6-97D7-CEC10043B50F}"/>
                </a:ext>
              </a:extLst>
            </p:cNvPr>
            <p:cNvSpPr txBox="1"/>
            <p:nvPr/>
          </p:nvSpPr>
          <p:spPr>
            <a:xfrm>
              <a:off x="7239793" y="2820962"/>
              <a:ext cx="3133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accent5"/>
                  </a:solidFill>
                </a:rPr>
                <a:t>ICMP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ping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query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packet</a:t>
              </a:r>
              <a:endParaRPr lang="ko-KR" altLang="en-US" b="1" dirty="0">
                <a:solidFill>
                  <a:schemeClr val="accent5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3B304F-A31D-4BAD-A882-7FACDBA8E312}"/>
                </a:ext>
              </a:extLst>
            </p:cNvPr>
            <p:cNvSpPr txBox="1"/>
            <p:nvPr/>
          </p:nvSpPr>
          <p:spPr>
            <a:xfrm>
              <a:off x="7239793" y="4970071"/>
              <a:ext cx="3133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accent5"/>
                  </a:solidFill>
                </a:rPr>
                <a:t>ICMP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echo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query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packet</a:t>
              </a:r>
              <a:endParaRPr lang="ko-KR" altLang="en-US" b="1" dirty="0">
                <a:solidFill>
                  <a:schemeClr val="accent5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BB4FE01-1F80-4CDE-9807-712E13BCA90C}"/>
                </a:ext>
              </a:extLst>
            </p:cNvPr>
            <p:cNvSpPr/>
            <p:nvPr/>
          </p:nvSpPr>
          <p:spPr>
            <a:xfrm>
              <a:off x="1789565" y="2202948"/>
              <a:ext cx="2524125" cy="179791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99E3E7C-E127-41B5-AA50-1E2E6AD59ADE}"/>
                </a:ext>
              </a:extLst>
            </p:cNvPr>
            <p:cNvSpPr/>
            <p:nvPr/>
          </p:nvSpPr>
          <p:spPr>
            <a:xfrm>
              <a:off x="1773234" y="4429017"/>
              <a:ext cx="2524125" cy="179791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9324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the ICMP echo packet in your screenshot. Is this different from the ICMP ping query packets in the first half of this lab? If yes, how so?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0ACD2A-C1F2-4FA8-BEA7-5B0B0F1C2AD0}"/>
              </a:ext>
            </a:extLst>
          </p:cNvPr>
          <p:cNvSpPr/>
          <p:nvPr/>
        </p:nvSpPr>
        <p:spPr>
          <a:xfrm>
            <a:off x="1532384" y="2940078"/>
            <a:ext cx="9901967" cy="1354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ICMP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echo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packet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은 앞에 있는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ICMP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ping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query packets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과 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동일한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fields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를 가지고 있다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lvl="0">
              <a:lnSpc>
                <a:spcPct val="25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  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다만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ICMP echo packet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은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response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가 없어서 </a:t>
            </a:r>
            <a:r>
              <a:rPr lang="en-US" altLang="ko-KR" b="1" dirty="0">
                <a:solidFill>
                  <a:srgbClr val="576067"/>
                </a:solidFill>
              </a:rPr>
              <a:t>[No response seen]</a:t>
            </a:r>
            <a:r>
              <a:rPr lang="ko-KR" altLang="en-US" b="1" dirty="0">
                <a:solidFill>
                  <a:srgbClr val="576067"/>
                </a:solidFill>
              </a:rPr>
              <a:t>이라고 나와있다</a:t>
            </a:r>
            <a:r>
              <a:rPr lang="en-US" altLang="ko-KR" b="1" dirty="0">
                <a:solidFill>
                  <a:srgbClr val="576067"/>
                </a:solidFill>
              </a:rPr>
              <a:t>.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57606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547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ICMP error packet in your screenshot. It has more fields than the ICMP echo packet. What is included in those fields?</a:t>
            </a:r>
            <a:endParaRPr kumimoji="0" lang="en-US" altLang="ko-KR" sz="1600" b="1" i="1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D92C233-574C-4223-8651-CABEF896DABF}"/>
              </a:ext>
            </a:extLst>
          </p:cNvPr>
          <p:cNvGrpSpPr/>
          <p:nvPr/>
        </p:nvGrpSpPr>
        <p:grpSpPr>
          <a:xfrm>
            <a:off x="1533094" y="2073992"/>
            <a:ext cx="9783057" cy="3788434"/>
            <a:chOff x="1533094" y="2073992"/>
            <a:chExt cx="9783057" cy="378843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9399E81-DE5C-4993-BF95-C3E612BAC8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28" t="16457" r="4558" b="18751"/>
            <a:stretch/>
          </p:blipFill>
          <p:spPr>
            <a:xfrm>
              <a:off x="1533094" y="2073992"/>
              <a:ext cx="9783057" cy="3788434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88A3804-FA91-4BDE-AC2A-6070CC94ACDE}"/>
                </a:ext>
              </a:extLst>
            </p:cNvPr>
            <p:cNvSpPr/>
            <p:nvPr/>
          </p:nvSpPr>
          <p:spPr>
            <a:xfrm>
              <a:off x="1533094" y="2962461"/>
              <a:ext cx="2686481" cy="179791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58102B-B4DE-4827-8D8A-AEB938447211}"/>
                </a:ext>
              </a:extLst>
            </p:cNvPr>
            <p:cNvSpPr txBox="1"/>
            <p:nvPr/>
          </p:nvSpPr>
          <p:spPr>
            <a:xfrm>
              <a:off x="7429207" y="3492088"/>
              <a:ext cx="3133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accent5"/>
                  </a:solidFill>
                </a:rPr>
                <a:t>ICMP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echo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query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packet</a:t>
              </a:r>
              <a:endParaRPr lang="ko-KR" altLang="en-US" b="1" dirty="0">
                <a:solidFill>
                  <a:schemeClr val="accent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7574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the ICMP error packet in your screenshot. It has more fields than the ICMP echo packet. What is included in those fields?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C42BC1E-5898-43CA-82C1-397C03D9E529}"/>
              </a:ext>
            </a:extLst>
          </p:cNvPr>
          <p:cNvGrpSpPr/>
          <p:nvPr/>
        </p:nvGrpSpPr>
        <p:grpSpPr>
          <a:xfrm>
            <a:off x="1660556" y="1929024"/>
            <a:ext cx="9632868" cy="3814198"/>
            <a:chOff x="1660556" y="1929024"/>
            <a:chExt cx="9632868" cy="381419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D53E1B2-5348-4EDD-B2F7-096E13BAF7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62" t="20138" r="13593" b="20138"/>
            <a:stretch/>
          </p:blipFill>
          <p:spPr>
            <a:xfrm>
              <a:off x="1660556" y="1929024"/>
              <a:ext cx="9632868" cy="381419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684527-695B-4FDE-87D0-3FBCB2464C7D}"/>
                </a:ext>
              </a:extLst>
            </p:cNvPr>
            <p:cNvSpPr txBox="1"/>
            <p:nvPr/>
          </p:nvSpPr>
          <p:spPr>
            <a:xfrm>
              <a:off x="7850721" y="3123785"/>
              <a:ext cx="3133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accent5"/>
                  </a:solidFill>
                </a:rPr>
                <a:t>ICMP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error</a:t>
              </a:r>
              <a:r>
                <a:rPr lang="ko-KR" altLang="en-US" b="1" dirty="0">
                  <a:solidFill>
                    <a:schemeClr val="accent5"/>
                  </a:solidFill>
                </a:rPr>
                <a:t> </a:t>
              </a:r>
              <a:r>
                <a:rPr lang="en-US" altLang="ko-KR" b="1" dirty="0">
                  <a:solidFill>
                    <a:schemeClr val="accent5"/>
                  </a:solidFill>
                </a:rPr>
                <a:t>packet</a:t>
              </a:r>
              <a:endParaRPr lang="ko-KR" altLang="en-US" b="1" dirty="0">
                <a:solidFill>
                  <a:schemeClr val="accent5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CF8E0A8-DE06-49AC-A61B-7CAE59754760}"/>
                </a:ext>
              </a:extLst>
            </p:cNvPr>
            <p:cNvSpPr/>
            <p:nvPr/>
          </p:nvSpPr>
          <p:spPr>
            <a:xfrm>
              <a:off x="1843292" y="2321052"/>
              <a:ext cx="5075241" cy="342217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6215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4" y="160855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ICMP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Examine the ICMP error packet in your screenshot. It has more fields than the ICMP echo packet. What is included in those fields?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6E32CD-51B0-4ED5-B579-ED2F2B0098DA}"/>
              </a:ext>
            </a:extLst>
          </p:cNvPr>
          <p:cNvSpPr/>
          <p:nvPr/>
        </p:nvSpPr>
        <p:spPr>
          <a:xfrm>
            <a:off x="2246844" y="1864501"/>
            <a:ext cx="8829169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ICMP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error packet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은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ICMP echo packet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와 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다른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Type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과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checksum, 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그리고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IPv4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를 가지고 있다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. 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즉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, IP Header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와 오류가 있는 원래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ICMP 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패킷의 처음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8byte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를 모두 포함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한다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E0A3DF-0040-4439-B014-C1C2C5840616}"/>
              </a:ext>
            </a:extLst>
          </p:cNvPr>
          <p:cNvSpPr/>
          <p:nvPr/>
        </p:nvSpPr>
        <p:spPr>
          <a:xfrm>
            <a:off x="2171263" y="3024185"/>
            <a:ext cx="6096000" cy="3362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ko-KR" altLang="en-US" b="1" dirty="0">
                <a:solidFill>
                  <a:srgbClr val="576067"/>
                </a:solidFill>
              </a:rPr>
              <a:t>내용</a:t>
            </a:r>
            <a:endParaRPr lang="en-US" altLang="ko-KR" b="1" dirty="0">
              <a:solidFill>
                <a:srgbClr val="576067"/>
              </a:solidFill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chemeClr val="accent5"/>
                </a:solidFill>
              </a:rPr>
              <a:t>Type: 11 (Time-to-live exceeded)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chemeClr val="accent5"/>
                </a:solidFill>
              </a:rPr>
              <a:t>Code: 0 (Time to live exceeded in transit)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chemeClr val="accent5"/>
                </a:solidFill>
              </a:rPr>
              <a:t>Checksum: 0xf4ff [correct]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chemeClr val="accent5"/>
                </a:solidFill>
              </a:rPr>
              <a:t>[Checksum Status: Good]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chemeClr val="accent5"/>
                </a:solidFill>
              </a:rPr>
              <a:t>Unused: 00000000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accent5"/>
                </a:solidFill>
              </a:rPr>
              <a:t>	…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en-US" altLang="ko-KR" b="1" dirty="0">
                <a:solidFill>
                  <a:schemeClr val="accent5"/>
                </a:solidFill>
              </a:rPr>
              <a:t>Time to live: 1</a:t>
            </a:r>
          </a:p>
        </p:txBody>
      </p:sp>
    </p:spTree>
    <p:extLst>
      <p:ext uri="{BB962C8B-B14F-4D97-AF65-F5344CB8AC3E}">
        <p14:creationId xmlns:p14="http://schemas.microsoft.com/office/powerpoint/2010/main" val="1209375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3" y="1608550"/>
            <a:ext cx="769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b="1" i="1" dirty="0">
                <a:solidFill>
                  <a:prstClr val="white"/>
                </a:solidFill>
              </a:rPr>
              <a:t>ICMP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i="1" dirty="0">
                <a:solidFill>
                  <a:srgbClr val="4F403F"/>
                </a:solidFill>
              </a:rPr>
              <a:t>Examine the last three ICMP packets received by the source host. How are these packets different from the ICMP error packets? Why are they different?</a:t>
            </a: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CCD11-5EE5-497D-AEF7-6E8CDC5F8223}"/>
              </a:ext>
            </a:extLst>
          </p:cNvPr>
          <p:cNvSpPr txBox="1"/>
          <p:nvPr/>
        </p:nvSpPr>
        <p:spPr>
          <a:xfrm>
            <a:off x="1756425" y="3618412"/>
            <a:ext cx="9677926" cy="2220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b="1" dirty="0">
                <a:solidFill>
                  <a:srgbClr val="576067"/>
                </a:solidFill>
                <a:sym typeface="Wingdings" panose="05000000000000000000" pitchFamily="2" charset="2"/>
              </a:rPr>
              <a:t>원래 기대하는 마지막 </a:t>
            </a:r>
            <a:r>
              <a:rPr lang="en-US" altLang="ko-KR" b="1" dirty="0">
                <a:solidFill>
                  <a:srgbClr val="576067"/>
                </a:solidFill>
                <a:sym typeface="Wingdings" panose="05000000000000000000" pitchFamily="2" charset="2"/>
              </a:rPr>
              <a:t>3</a:t>
            </a:r>
            <a:r>
              <a:rPr lang="ko-KR" altLang="en-US" b="1" dirty="0">
                <a:solidFill>
                  <a:srgbClr val="576067"/>
                </a:solidFill>
                <a:sym typeface="Wingdings" panose="05000000000000000000" pitchFamily="2" charset="2"/>
              </a:rPr>
              <a:t>개의 패킷은 </a:t>
            </a:r>
            <a:r>
              <a:rPr lang="en-US" altLang="ko-KR" b="1" dirty="0">
                <a:solidFill>
                  <a:srgbClr val="576067"/>
                </a:solidFill>
                <a:sym typeface="Wingdings" panose="05000000000000000000" pitchFamily="2" charset="2"/>
              </a:rPr>
              <a:t>reply packet</a:t>
            </a:r>
            <a:r>
              <a:rPr lang="ko-KR" altLang="en-US" b="1" dirty="0">
                <a:solidFill>
                  <a:srgbClr val="576067"/>
                </a:solidFill>
                <a:sym typeface="Wingdings" panose="05000000000000000000" pitchFamily="2" charset="2"/>
              </a:rPr>
              <a:t>으로 </a:t>
            </a:r>
            <a:r>
              <a:rPr lang="en-US" altLang="ko-KR" b="1" dirty="0">
                <a:solidFill>
                  <a:srgbClr val="576067"/>
                </a:solidFill>
                <a:sym typeface="Wingdings" panose="05000000000000000000" pitchFamily="2" charset="2"/>
              </a:rPr>
              <a:t>Type 0</a:t>
            </a:r>
            <a:r>
              <a:rPr lang="ko-KR" altLang="en-US" b="1" dirty="0">
                <a:solidFill>
                  <a:srgbClr val="576067"/>
                </a:solidFill>
                <a:sym typeface="Wingdings" panose="05000000000000000000" pitchFamily="2" charset="2"/>
              </a:rPr>
              <a:t>이 나와 </a:t>
            </a:r>
            <a:r>
              <a:rPr lang="en-US" altLang="ko-KR" b="1" dirty="0">
                <a:solidFill>
                  <a:srgbClr val="576067"/>
                </a:solidFill>
                <a:sym typeface="Wingdings" panose="05000000000000000000" pitchFamily="2" charset="2"/>
              </a:rPr>
              <a:t>Net Unreachable</a:t>
            </a:r>
            <a:r>
              <a:rPr lang="ko-KR" altLang="en-US" b="1" dirty="0">
                <a:solidFill>
                  <a:srgbClr val="576067"/>
                </a:solidFill>
                <a:sym typeface="Wingdings" panose="05000000000000000000" pitchFamily="2" charset="2"/>
              </a:rPr>
              <a:t>임을 보여줘야 했지만</a:t>
            </a:r>
            <a:r>
              <a:rPr lang="en-US" altLang="ko-KR" b="1" dirty="0">
                <a:solidFill>
                  <a:srgbClr val="576067"/>
                </a:solidFill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olidFill>
                  <a:srgbClr val="576067"/>
                </a:solidFill>
                <a:sym typeface="Wingdings" panose="05000000000000000000" pitchFamily="2" charset="2"/>
              </a:rPr>
              <a:t>해당 그림에서는 이를 확인할 수 없다</a:t>
            </a:r>
            <a:r>
              <a:rPr lang="en-US" altLang="ko-KR" b="1" dirty="0">
                <a:solidFill>
                  <a:srgbClr val="576067"/>
                </a:solidFill>
                <a:sym typeface="Wingdings" panose="05000000000000000000" pitchFamily="2" charset="2"/>
              </a:rPr>
              <a:t>. 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b="1" dirty="0">
                <a:solidFill>
                  <a:schemeClr val="accent5"/>
                </a:solidFill>
              </a:rPr>
              <a:t>즉</a:t>
            </a:r>
            <a:r>
              <a:rPr lang="en-US" altLang="ko-KR" b="1" dirty="0">
                <a:solidFill>
                  <a:schemeClr val="accent5"/>
                </a:solidFill>
              </a:rPr>
              <a:t>, </a:t>
            </a:r>
            <a:r>
              <a:rPr lang="ko-KR" altLang="en-US" b="1" dirty="0">
                <a:solidFill>
                  <a:schemeClr val="accent5"/>
                </a:solidFill>
              </a:rPr>
              <a:t>마지막 </a:t>
            </a:r>
            <a:r>
              <a:rPr lang="en-US" altLang="ko-KR" b="1" dirty="0">
                <a:solidFill>
                  <a:schemeClr val="accent5"/>
                </a:solidFill>
              </a:rPr>
              <a:t>3</a:t>
            </a:r>
            <a:r>
              <a:rPr lang="ko-KR" altLang="en-US" b="1" dirty="0">
                <a:solidFill>
                  <a:schemeClr val="accent5"/>
                </a:solidFill>
              </a:rPr>
              <a:t>개의 패킷이 기존에 있는 패킷과 다른 게 없다</a:t>
            </a:r>
            <a:r>
              <a:rPr lang="en-US" altLang="ko-KR" b="1" dirty="0">
                <a:solidFill>
                  <a:schemeClr val="accent5"/>
                </a:solidFill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ko-KR" altLang="en-US" b="1" dirty="0">
                <a:solidFill>
                  <a:srgbClr val="576067"/>
                </a:solidFill>
              </a:rPr>
              <a:t>이 이유는 사설 </a:t>
            </a:r>
            <a:r>
              <a:rPr lang="en-US" altLang="ko-KR" b="1" dirty="0">
                <a:solidFill>
                  <a:srgbClr val="576067"/>
                </a:solidFill>
              </a:rPr>
              <a:t>IP</a:t>
            </a:r>
            <a:r>
              <a:rPr lang="ko-KR" altLang="en-US" b="1" dirty="0">
                <a:solidFill>
                  <a:srgbClr val="576067"/>
                </a:solidFill>
              </a:rPr>
              <a:t>에서 요청하면 대답을 해주지 않기 때문이다</a:t>
            </a:r>
            <a:r>
              <a:rPr lang="en-US" altLang="ko-KR" b="1" dirty="0">
                <a:solidFill>
                  <a:srgbClr val="576067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286416-1813-418A-BF54-5850B8A37F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5" t="27428" r="3787" b="43848"/>
          <a:stretch/>
        </p:blipFill>
        <p:spPr>
          <a:xfrm>
            <a:off x="1843292" y="1878981"/>
            <a:ext cx="9348583" cy="15997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4E128E1-9ED9-41C1-81E7-26F2E93BE701}"/>
              </a:ext>
            </a:extLst>
          </p:cNvPr>
          <p:cNvSpPr/>
          <p:nvPr/>
        </p:nvSpPr>
        <p:spPr>
          <a:xfrm>
            <a:off x="6329708" y="1867893"/>
            <a:ext cx="1566016" cy="532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74A15D-DC55-4FFA-BAD3-582720E78223}"/>
              </a:ext>
            </a:extLst>
          </p:cNvPr>
          <p:cNvSpPr/>
          <p:nvPr/>
        </p:nvSpPr>
        <p:spPr>
          <a:xfrm>
            <a:off x="1952522" y="3129227"/>
            <a:ext cx="1952727" cy="3606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64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3" y="1608550"/>
            <a:ext cx="769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b="1" i="1" dirty="0">
                <a:solidFill>
                  <a:prstClr val="white"/>
                </a:solidFill>
              </a:rPr>
              <a:t>ICMP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i="1" dirty="0">
                <a:solidFill>
                  <a:srgbClr val="4F403F"/>
                </a:solidFill>
              </a:rPr>
              <a:t>강의노트에서 배운 내용과 다른 점을 찾아라</a:t>
            </a:r>
            <a:r>
              <a:rPr lang="en-US" altLang="ko-KR" sz="1600" b="1" i="1" dirty="0">
                <a:solidFill>
                  <a:srgbClr val="4F403F"/>
                </a:solidFill>
              </a:rPr>
              <a:t>. </a:t>
            </a: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sp>
        <p:nvSpPr>
          <p:cNvPr id="74" name="내용 개체 틀 2">
            <a:extLst>
              <a:ext uri="{FF2B5EF4-FFF2-40B4-BE49-F238E27FC236}">
                <a16:creationId xmlns:a16="http://schemas.microsoft.com/office/drawing/2014/main" id="{BEFED4A6-368D-4B9E-968B-EEFB74780A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407828" y="1928401"/>
            <a:ext cx="8229600" cy="42259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source sends series of UDP segments to </a:t>
            </a:r>
            <a:r>
              <a:rPr lang="en-US" altLang="ko-KR" b="1" dirty="0" err="1">
                <a:solidFill>
                  <a:srgbClr val="576067"/>
                </a:solidFill>
              </a:rPr>
              <a:t>dest</a:t>
            </a:r>
            <a:endParaRPr lang="en-US" altLang="ko-KR" b="1" dirty="0">
              <a:solidFill>
                <a:srgbClr val="576067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first set has TTL =1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second set has TTL=2, etc.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unlikely port number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when n</a:t>
            </a:r>
            <a:r>
              <a:rPr lang="en-US" altLang="ko-KR" b="1" baseline="30000" dirty="0">
                <a:solidFill>
                  <a:srgbClr val="576067"/>
                </a:solidFill>
              </a:rPr>
              <a:t>th</a:t>
            </a:r>
            <a:r>
              <a:rPr lang="en-US" altLang="ko-KR" b="1" dirty="0">
                <a:solidFill>
                  <a:srgbClr val="576067"/>
                </a:solidFill>
              </a:rPr>
              <a:t> set of packets arrives to n</a:t>
            </a:r>
            <a:r>
              <a:rPr lang="en-US" altLang="ko-KR" b="1" baseline="30000" dirty="0">
                <a:solidFill>
                  <a:srgbClr val="576067"/>
                </a:solidFill>
              </a:rPr>
              <a:t>th</a:t>
            </a:r>
            <a:r>
              <a:rPr lang="en-US" altLang="ko-KR" b="1" dirty="0">
                <a:solidFill>
                  <a:srgbClr val="576067"/>
                </a:solidFill>
              </a:rPr>
              <a:t> router: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router discards packets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and sends source ICMP messages (type 11, code 0:  “TTL Expired”)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ICMP messages includes name of router &amp; IP address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when ICMP messages arrives, source records RTTs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stopping criteria: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UDP segment eventually arrives at destination host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destination returns ICMP “port unreachable” message (type 3, code 3)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ko-KR" b="1" dirty="0">
                <a:solidFill>
                  <a:srgbClr val="576067"/>
                </a:solidFill>
              </a:rPr>
              <a:t>source stops</a:t>
            </a:r>
          </a:p>
          <a:p>
            <a:pPr>
              <a:lnSpc>
                <a:spcPct val="120000"/>
              </a:lnSpc>
              <a:defRPr/>
            </a:pPr>
            <a:endParaRPr lang="en-US" altLang="ko-KR" b="1" dirty="0">
              <a:solidFill>
                <a:srgbClr val="576067"/>
              </a:solidFill>
            </a:endParaRPr>
          </a:p>
          <a:p>
            <a:pPr>
              <a:lnSpc>
                <a:spcPct val="120000"/>
              </a:lnSpc>
              <a:defRPr/>
            </a:pPr>
            <a:endParaRPr lang="ko-KR" altLang="en-US" b="1" dirty="0">
              <a:solidFill>
                <a:srgbClr val="576067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6867895-CBAF-4CB9-852E-758462BE7EE9}"/>
              </a:ext>
            </a:extLst>
          </p:cNvPr>
          <p:cNvSpPr/>
          <p:nvPr/>
        </p:nvSpPr>
        <p:spPr>
          <a:xfrm>
            <a:off x="8156164" y="2479855"/>
            <a:ext cx="3239229" cy="115252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dirty="0">
                <a:solidFill>
                  <a:srgbClr val="576067"/>
                </a:solidFill>
                <a:latin typeface="Gill Sans MT"/>
                <a:ea typeface="맑은 고딕" panose="020B0503020000020004" pitchFamily="50" charset="-127"/>
              </a:rPr>
              <a:t>Recent Windows’ “</a:t>
            </a:r>
            <a:r>
              <a:rPr kumimoji="1" lang="en-US" altLang="ko-KR" sz="1400" b="1" dirty="0" err="1">
                <a:solidFill>
                  <a:srgbClr val="576067"/>
                </a:solidFill>
                <a:latin typeface="Gill Sans MT"/>
                <a:ea typeface="맑은 고딕" panose="020B0503020000020004" pitchFamily="50" charset="-127"/>
              </a:rPr>
              <a:t>TraceRT</a:t>
            </a:r>
            <a:r>
              <a:rPr kumimoji="1" lang="en-US" altLang="ko-KR" sz="1400" b="1" dirty="0">
                <a:solidFill>
                  <a:srgbClr val="576067"/>
                </a:solidFill>
                <a:latin typeface="Gill Sans MT"/>
                <a:ea typeface="맑은 고딕" panose="020B0503020000020004" pitchFamily="50" charset="-127"/>
              </a:rPr>
              <a:t>” command uses Ping Echo requests with small TTLs. Destination returns Ping Echo-reply. </a:t>
            </a:r>
            <a:endParaRPr kumimoji="1" lang="ko-KR" altLang="en-US" sz="1400" b="1" dirty="0">
              <a:solidFill>
                <a:srgbClr val="576067"/>
              </a:solidFill>
              <a:latin typeface="Gill Sans MT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1653C-BC7F-4E2B-BA4B-C7F1E033E318}"/>
              </a:ext>
            </a:extLst>
          </p:cNvPr>
          <p:cNvSpPr txBox="1"/>
          <p:nvPr/>
        </p:nvSpPr>
        <p:spPr>
          <a:xfrm>
            <a:off x="2363751" y="1582388"/>
            <a:ext cx="2259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4F403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4F403F"/>
                </a:solidFill>
              </a:rPr>
              <a:t>강의노트 내용</a:t>
            </a:r>
          </a:p>
        </p:txBody>
      </p:sp>
    </p:spTree>
    <p:extLst>
      <p:ext uri="{BB962C8B-B14F-4D97-AF65-F5344CB8AC3E}">
        <p14:creationId xmlns:p14="http://schemas.microsoft.com/office/powerpoint/2010/main" val="59128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9362538" y="4161473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55666" y="238380"/>
            <a:ext cx="11177155" cy="6369777"/>
            <a:chOff x="876300" y="368300"/>
            <a:chExt cx="10629900" cy="6057900"/>
          </a:xfrm>
          <a:solidFill>
            <a:srgbClr val="64504F"/>
          </a:solidFill>
        </p:grpSpPr>
        <p:sp>
          <p:nvSpPr>
            <p:cNvPr id="5" name="직사각형 4"/>
            <p:cNvSpPr/>
            <p:nvPr/>
          </p:nvSpPr>
          <p:spPr>
            <a:xfrm>
              <a:off x="6464300" y="368300"/>
              <a:ext cx="5041900" cy="6057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 16"/>
            <p:cNvSpPr/>
            <p:nvPr/>
          </p:nvSpPr>
          <p:spPr>
            <a:xfrm rot="16200000">
              <a:off x="641350" y="603250"/>
              <a:ext cx="6057900" cy="5588000"/>
            </a:xfrm>
            <a:custGeom>
              <a:avLst/>
              <a:gdLst>
                <a:gd name="connsiteX0" fmla="*/ 6057900 w 6057900"/>
                <a:gd name="connsiteY0" fmla="*/ 546100 h 5588000"/>
                <a:gd name="connsiteX1" fmla="*/ 6057900 w 6057900"/>
                <a:gd name="connsiteY1" fmla="*/ 5588000 h 5588000"/>
                <a:gd name="connsiteX2" fmla="*/ 0 w 6057900"/>
                <a:gd name="connsiteY2" fmla="*/ 5588000 h 5588000"/>
                <a:gd name="connsiteX3" fmla="*/ 0 w 6057900"/>
                <a:gd name="connsiteY3" fmla="*/ 546100 h 5588000"/>
                <a:gd name="connsiteX4" fmla="*/ 2946400 w 6057900"/>
                <a:gd name="connsiteY4" fmla="*/ 546100 h 5588000"/>
                <a:gd name="connsiteX5" fmla="*/ 3146426 w 6057900"/>
                <a:gd name="connsiteY5" fmla="*/ 0 h 5588000"/>
                <a:gd name="connsiteX6" fmla="*/ 5857874 w 6057900"/>
                <a:gd name="connsiteY6" fmla="*/ 0 h 55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57900" h="5588000">
                  <a:moveTo>
                    <a:pt x="6057900" y="546100"/>
                  </a:moveTo>
                  <a:lnTo>
                    <a:pt x="6057900" y="5588000"/>
                  </a:lnTo>
                  <a:lnTo>
                    <a:pt x="0" y="5588000"/>
                  </a:lnTo>
                  <a:lnTo>
                    <a:pt x="0" y="546100"/>
                  </a:lnTo>
                  <a:lnTo>
                    <a:pt x="2946400" y="546100"/>
                  </a:lnTo>
                  <a:lnTo>
                    <a:pt x="3146426" y="0"/>
                  </a:lnTo>
                  <a:lnTo>
                    <a:pt x="5857874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905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421902" y="368300"/>
              <a:ext cx="72000" cy="6057900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409187" y="383722"/>
              <a:ext cx="36000" cy="3096078"/>
            </a:xfrm>
            <a:prstGeom prst="rect">
              <a:avLst/>
            </a:prstGeom>
            <a:solidFill>
              <a:srgbClr val="4F4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255" y="223899"/>
            <a:ext cx="10216431" cy="6204934"/>
            <a:chOff x="6676455" y="354528"/>
            <a:chExt cx="4675932" cy="5901128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1" name="직사각형 30"/>
            <p:cNvSpPr/>
            <p:nvPr/>
          </p:nvSpPr>
          <p:spPr>
            <a:xfrm rot="21540000">
              <a:off x="6676455" y="638629"/>
              <a:ext cx="4617589" cy="55480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34798" y="533399"/>
              <a:ext cx="4617589" cy="572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7034349" y="354528"/>
              <a:ext cx="183576" cy="597972"/>
            </a:xfrm>
            <a:custGeom>
              <a:avLst/>
              <a:gdLst>
                <a:gd name="connsiteX0" fmla="*/ 189576 w 379152"/>
                <a:gd name="connsiteY0" fmla="*/ 0 h 1235034"/>
                <a:gd name="connsiteX1" fmla="*/ 379152 w 379152"/>
                <a:gd name="connsiteY1" fmla="*/ 189576 h 1235034"/>
                <a:gd name="connsiteX2" fmla="*/ 379152 w 379152"/>
                <a:gd name="connsiteY2" fmla="*/ 1045458 h 1235034"/>
                <a:gd name="connsiteX3" fmla="*/ 189576 w 379152"/>
                <a:gd name="connsiteY3" fmla="*/ 1235034 h 1235034"/>
                <a:gd name="connsiteX4" fmla="*/ 0 w 379152"/>
                <a:gd name="connsiteY4" fmla="*/ 1045458 h 1235034"/>
                <a:gd name="connsiteX5" fmla="*/ 0 w 379152"/>
                <a:gd name="connsiteY5" fmla="*/ 491878 h 1235034"/>
                <a:gd name="connsiteX6" fmla="*/ 45576 w 379152"/>
                <a:gd name="connsiteY6" fmla="*/ 491878 h 1235034"/>
                <a:gd name="connsiteX7" fmla="*/ 45576 w 379152"/>
                <a:gd name="connsiteY7" fmla="*/ 1025585 h 1235034"/>
                <a:gd name="connsiteX8" fmla="*/ 189576 w 379152"/>
                <a:gd name="connsiteY8" fmla="*/ 1169585 h 1235034"/>
                <a:gd name="connsiteX9" fmla="*/ 333576 w 379152"/>
                <a:gd name="connsiteY9" fmla="*/ 1025585 h 1235034"/>
                <a:gd name="connsiteX10" fmla="*/ 333576 w 379152"/>
                <a:gd name="connsiteY10" fmla="*/ 209448 h 1235034"/>
                <a:gd name="connsiteX11" fmla="*/ 189576 w 379152"/>
                <a:gd name="connsiteY11" fmla="*/ 65448 h 1235034"/>
                <a:gd name="connsiteX12" fmla="*/ 45576 w 379152"/>
                <a:gd name="connsiteY12" fmla="*/ 209448 h 1235034"/>
                <a:gd name="connsiteX13" fmla="*/ 45576 w 379152"/>
                <a:gd name="connsiteY13" fmla="*/ 341477 h 1235034"/>
                <a:gd name="connsiteX14" fmla="*/ 0 w 379152"/>
                <a:gd name="connsiteY14" fmla="*/ 341477 h 1235034"/>
                <a:gd name="connsiteX15" fmla="*/ 0 w 379152"/>
                <a:gd name="connsiteY15" fmla="*/ 189576 h 1235034"/>
                <a:gd name="connsiteX16" fmla="*/ 189576 w 379152"/>
                <a:gd name="connsiteY16" fmla="*/ 0 h 123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9152" h="1235034">
                  <a:moveTo>
                    <a:pt x="189576" y="0"/>
                  </a:moveTo>
                  <a:cubicBezTo>
                    <a:pt x="294276" y="0"/>
                    <a:pt x="379152" y="84876"/>
                    <a:pt x="379152" y="189576"/>
                  </a:cubicBezTo>
                  <a:lnTo>
                    <a:pt x="379152" y="1045458"/>
                  </a:lnTo>
                  <a:cubicBezTo>
                    <a:pt x="379152" y="1150158"/>
                    <a:pt x="294276" y="1235034"/>
                    <a:pt x="189576" y="1235034"/>
                  </a:cubicBezTo>
                  <a:cubicBezTo>
                    <a:pt x="84876" y="1235034"/>
                    <a:pt x="0" y="1150158"/>
                    <a:pt x="0" y="1045458"/>
                  </a:cubicBezTo>
                  <a:lnTo>
                    <a:pt x="0" y="491878"/>
                  </a:lnTo>
                  <a:lnTo>
                    <a:pt x="45576" y="491878"/>
                  </a:lnTo>
                  <a:lnTo>
                    <a:pt x="45576" y="1025585"/>
                  </a:lnTo>
                  <a:cubicBezTo>
                    <a:pt x="45576" y="1105114"/>
                    <a:pt x="110047" y="1169585"/>
                    <a:pt x="189576" y="1169585"/>
                  </a:cubicBezTo>
                  <a:cubicBezTo>
                    <a:pt x="269105" y="1169585"/>
                    <a:pt x="333576" y="1105114"/>
                    <a:pt x="333576" y="1025585"/>
                  </a:cubicBezTo>
                  <a:lnTo>
                    <a:pt x="333576" y="209448"/>
                  </a:lnTo>
                  <a:cubicBezTo>
                    <a:pt x="333576" y="129919"/>
                    <a:pt x="269105" y="65448"/>
                    <a:pt x="189576" y="65448"/>
                  </a:cubicBezTo>
                  <a:cubicBezTo>
                    <a:pt x="110047" y="65448"/>
                    <a:pt x="45576" y="129919"/>
                    <a:pt x="45576" y="209448"/>
                  </a:cubicBezTo>
                  <a:lnTo>
                    <a:pt x="45576" y="341477"/>
                  </a:lnTo>
                  <a:lnTo>
                    <a:pt x="0" y="341477"/>
                  </a:lnTo>
                  <a:lnTo>
                    <a:pt x="0" y="189576"/>
                  </a:lnTo>
                  <a:cubicBezTo>
                    <a:pt x="0" y="84876"/>
                    <a:pt x="84876" y="0"/>
                    <a:pt x="189576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75F8010-93C3-4896-BF6D-62539C8D7008}"/>
              </a:ext>
            </a:extLst>
          </p:cNvPr>
          <p:cNvSpPr/>
          <p:nvPr/>
        </p:nvSpPr>
        <p:spPr>
          <a:xfrm rot="5400000">
            <a:off x="449323" y="1608550"/>
            <a:ext cx="769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b="1" i="1" dirty="0">
                <a:solidFill>
                  <a:prstClr val="white"/>
                </a:solidFill>
              </a:rPr>
              <a:t>ICMP</a:t>
            </a:r>
            <a:endParaRPr lang="ko-KR" altLang="en-US" b="1" dirty="0">
              <a:solidFill>
                <a:prstClr val="white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F7E293-511F-450B-A80B-245FBBA48B3E}"/>
              </a:ext>
            </a:extLst>
          </p:cNvPr>
          <p:cNvSpPr/>
          <p:nvPr/>
        </p:nvSpPr>
        <p:spPr>
          <a:xfrm>
            <a:off x="2612327" y="624594"/>
            <a:ext cx="8463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1" u="none" strike="noStrike" kern="1200" cap="none" spc="0" normalizeH="0" baseline="0" noProof="0" dirty="0">
                <a:ln>
                  <a:noFill/>
                </a:ln>
                <a:solidFill>
                  <a:srgbClr val="64504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 08 : ICMP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403F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5D9CE3-1470-4368-9FA1-CA52F594FC29}"/>
              </a:ext>
            </a:extLst>
          </p:cNvPr>
          <p:cNvSpPr/>
          <p:nvPr/>
        </p:nvSpPr>
        <p:spPr>
          <a:xfrm>
            <a:off x="2018498" y="1081145"/>
            <a:ext cx="9503214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강의노트에서 배운 내용과 다른 점을 찾아라</a:t>
            </a:r>
            <a:r>
              <a:rPr kumimoji="0" lang="en-US" altLang="ko-KR" sz="1600" b="1" i="1" u="none" strike="noStrike" kern="1200" cap="none" spc="0" normalizeH="0" baseline="0" noProof="0" dirty="0">
                <a:ln>
                  <a:noFill/>
                </a:ln>
                <a:solidFill>
                  <a:srgbClr val="4F403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  </a:t>
            </a:r>
          </a:p>
        </p:txBody>
      </p:sp>
      <p:sp>
        <p:nvSpPr>
          <p:cNvPr id="23" name="자유형 14">
            <a:extLst>
              <a:ext uri="{FF2B5EF4-FFF2-40B4-BE49-F238E27FC236}">
                <a16:creationId xmlns:a16="http://schemas.microsoft.com/office/drawing/2014/main" id="{63BE6049-C778-4467-9C69-0FDA6DDB937D}"/>
              </a:ext>
            </a:extLst>
          </p:cNvPr>
          <p:cNvSpPr/>
          <p:nvPr/>
        </p:nvSpPr>
        <p:spPr>
          <a:xfrm>
            <a:off x="9359987" y="4159751"/>
            <a:ext cx="2370283" cy="2446684"/>
          </a:xfrm>
          <a:custGeom>
            <a:avLst/>
            <a:gdLst>
              <a:gd name="connsiteX0" fmla="*/ 2254229 w 2254229"/>
              <a:gd name="connsiteY0" fmla="*/ 0 h 2326889"/>
              <a:gd name="connsiteX1" fmla="*/ 2254229 w 2254229"/>
              <a:gd name="connsiteY1" fmla="*/ 2326889 h 2326889"/>
              <a:gd name="connsiteX2" fmla="*/ 0 w 2254229"/>
              <a:gd name="connsiteY2" fmla="*/ 2326889 h 2326889"/>
              <a:gd name="connsiteX3" fmla="*/ 9753 w 2254229"/>
              <a:gd name="connsiteY3" fmla="*/ 2120883 h 2326889"/>
              <a:gd name="connsiteX4" fmla="*/ 2109978 w 2254229"/>
              <a:gd name="connsiteY4" fmla="*/ 7284 h 232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4229" h="2326889">
                <a:moveTo>
                  <a:pt x="2254229" y="0"/>
                </a:moveTo>
                <a:lnTo>
                  <a:pt x="2254229" y="2326889"/>
                </a:lnTo>
                <a:lnTo>
                  <a:pt x="0" y="2326889"/>
                </a:lnTo>
                <a:lnTo>
                  <a:pt x="9753" y="2120883"/>
                </a:lnTo>
                <a:cubicBezTo>
                  <a:pt x="115745" y="1007300"/>
                  <a:pt x="998418" y="120168"/>
                  <a:pt x="2109978" y="7284"/>
                </a:cubicBezTo>
                <a:close/>
              </a:path>
            </a:pathLst>
          </a:custGeom>
          <a:solidFill>
            <a:srgbClr val="4F403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BA6B8B-2960-49D2-97BB-33AF651F0D94}"/>
              </a:ext>
            </a:extLst>
          </p:cNvPr>
          <p:cNvSpPr/>
          <p:nvPr/>
        </p:nvSpPr>
        <p:spPr>
          <a:xfrm>
            <a:off x="4965545" y="667059"/>
            <a:ext cx="4126066" cy="371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1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Questions with Traceroute activities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E2C247-3791-4881-84FA-89870196776C}"/>
              </a:ext>
            </a:extLst>
          </p:cNvPr>
          <p:cNvSpPr txBox="1"/>
          <p:nvPr/>
        </p:nvSpPr>
        <p:spPr>
          <a:xfrm>
            <a:off x="1767788" y="1485021"/>
            <a:ext cx="9418404" cy="481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강의 노트에서는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UDP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가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destination host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에 도착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하고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7606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라우터에 도착하면 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TTL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을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 1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씩 줄이는 방식과 포트 넘버를 이상한 것을 보내 </a:t>
            </a:r>
            <a:r>
              <a:rPr lang="en-US" altLang="ko-KR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‘</a:t>
            </a:r>
            <a:r>
              <a:rPr lang="ko-KR" altLang="en-US" b="1" dirty="0">
                <a:solidFill>
                  <a:schemeClr val="accent5"/>
                </a:solidFill>
                <a:latin typeface="맑은 고딕" panose="020F0502020204030204"/>
                <a:ea typeface="맑은 고딕" panose="020B0503020000020004" pitchFamily="50" charset="-127"/>
              </a:rPr>
              <a:t>최종적으로는 포트가 없다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는 것을 받아야 한다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.’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라고 배웠다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 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즉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, Network Unreachable</a:t>
            </a:r>
            <a:r>
              <a:rPr lang="ko-KR" altLang="en-US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이어야 한다는 것이다</a:t>
            </a:r>
            <a:r>
              <a:rPr lang="en-US" altLang="ko-KR" b="1" dirty="0">
                <a:solidFill>
                  <a:srgbClr val="576067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à"/>
            </a:pPr>
            <a:r>
              <a:rPr lang="ko-KR" altLang="en-US" b="1" dirty="0">
                <a:solidFill>
                  <a:srgbClr val="576067"/>
                </a:solidFill>
              </a:rPr>
              <a:t>하지만 내가 관찰한 </a:t>
            </a:r>
            <a:r>
              <a:rPr lang="en-US" altLang="ko-KR" b="1" dirty="0">
                <a:solidFill>
                  <a:srgbClr val="576067"/>
                </a:solidFill>
              </a:rPr>
              <a:t>Packets</a:t>
            </a:r>
            <a:r>
              <a:rPr lang="ko-KR" altLang="en-US" b="1" dirty="0">
                <a:solidFill>
                  <a:srgbClr val="576067"/>
                </a:solidFill>
              </a:rPr>
              <a:t>은 </a:t>
            </a:r>
            <a:r>
              <a:rPr lang="en-US" altLang="ko-KR" b="1" dirty="0">
                <a:solidFill>
                  <a:srgbClr val="576067"/>
                </a:solidFill>
              </a:rPr>
              <a:t>ping</a:t>
            </a:r>
            <a:r>
              <a:rPr lang="ko-KR" altLang="en-US" b="1" dirty="0">
                <a:solidFill>
                  <a:srgbClr val="576067"/>
                </a:solidFill>
              </a:rPr>
              <a:t>을 이용하고 </a:t>
            </a:r>
            <a:r>
              <a:rPr lang="en-US" altLang="ko-KR" b="1" dirty="0">
                <a:solidFill>
                  <a:srgbClr val="576067"/>
                </a:solidFill>
              </a:rPr>
              <a:t>Unreachable</a:t>
            </a:r>
            <a:r>
              <a:rPr lang="ko-KR" altLang="en-US" b="1" dirty="0">
                <a:solidFill>
                  <a:srgbClr val="576067"/>
                </a:solidFill>
              </a:rPr>
              <a:t>이 아닌 </a:t>
            </a:r>
            <a:r>
              <a:rPr lang="en-US" altLang="ko-KR" b="1" dirty="0">
                <a:solidFill>
                  <a:srgbClr val="576067"/>
                </a:solidFill>
              </a:rPr>
              <a:t>TTL </a:t>
            </a:r>
            <a:r>
              <a:rPr lang="ko-KR" altLang="en-US" b="1" dirty="0">
                <a:solidFill>
                  <a:srgbClr val="576067"/>
                </a:solidFill>
              </a:rPr>
              <a:t>오류를 볼 수 있다</a:t>
            </a:r>
            <a:r>
              <a:rPr lang="en-US" altLang="ko-KR" b="1" dirty="0">
                <a:solidFill>
                  <a:srgbClr val="576067"/>
                </a:solidFill>
              </a:rPr>
              <a:t>. </a:t>
            </a:r>
            <a:r>
              <a:rPr lang="ko-KR" altLang="en-US" b="1" dirty="0">
                <a:solidFill>
                  <a:schemeClr val="accent5"/>
                </a:solidFill>
              </a:rPr>
              <a:t>즉</a:t>
            </a:r>
            <a:r>
              <a:rPr lang="en-US" altLang="ko-KR" b="1" dirty="0">
                <a:solidFill>
                  <a:schemeClr val="accent5"/>
                </a:solidFill>
              </a:rPr>
              <a:t>, </a:t>
            </a:r>
            <a:r>
              <a:rPr lang="ko-KR" altLang="en-US" b="1" dirty="0">
                <a:solidFill>
                  <a:schemeClr val="accent5"/>
                </a:solidFill>
              </a:rPr>
              <a:t>최근 윈도우의 </a:t>
            </a:r>
            <a:r>
              <a:rPr lang="en-US" altLang="ko-KR" b="1" dirty="0">
                <a:solidFill>
                  <a:schemeClr val="accent5"/>
                </a:solidFill>
              </a:rPr>
              <a:t>“</a:t>
            </a:r>
            <a:r>
              <a:rPr lang="en-US" altLang="ko-KR" b="1" dirty="0" err="1">
                <a:solidFill>
                  <a:schemeClr val="accent5"/>
                </a:solidFill>
              </a:rPr>
              <a:t>TraceRT</a:t>
            </a:r>
            <a:r>
              <a:rPr lang="en-US" altLang="ko-KR" b="1" dirty="0">
                <a:solidFill>
                  <a:schemeClr val="accent5"/>
                </a:solidFill>
              </a:rPr>
              <a:t>” </a:t>
            </a:r>
            <a:r>
              <a:rPr lang="ko-KR" altLang="en-US" b="1" dirty="0">
                <a:solidFill>
                  <a:schemeClr val="accent5"/>
                </a:solidFill>
              </a:rPr>
              <a:t>명령은 작은 </a:t>
            </a:r>
            <a:r>
              <a:rPr lang="en-US" altLang="ko-KR" b="1" dirty="0">
                <a:solidFill>
                  <a:schemeClr val="accent5"/>
                </a:solidFill>
              </a:rPr>
              <a:t>TTL</a:t>
            </a:r>
            <a:r>
              <a:rPr lang="ko-KR" altLang="en-US" b="1" dirty="0">
                <a:solidFill>
                  <a:schemeClr val="accent5"/>
                </a:solidFill>
              </a:rPr>
              <a:t>이 있는 </a:t>
            </a:r>
            <a:endParaRPr lang="en-US" altLang="ko-KR" b="1" dirty="0">
              <a:solidFill>
                <a:schemeClr val="accent5"/>
              </a:solidFill>
            </a:endParaRPr>
          </a:p>
          <a:p>
            <a:pPr>
              <a:lnSpc>
                <a:spcPct val="250000"/>
              </a:lnSpc>
            </a:pPr>
            <a:r>
              <a:rPr lang="en-US" altLang="ko-KR" b="1" dirty="0">
                <a:solidFill>
                  <a:schemeClr val="accent5"/>
                </a:solidFill>
              </a:rPr>
              <a:t>    Ping Echo request</a:t>
            </a:r>
            <a:r>
              <a:rPr lang="ko-KR" altLang="en-US" b="1" dirty="0">
                <a:solidFill>
                  <a:schemeClr val="accent5"/>
                </a:solidFill>
              </a:rPr>
              <a:t>를 사용한다</a:t>
            </a:r>
            <a:r>
              <a:rPr lang="en-US" altLang="ko-KR" b="1" dirty="0">
                <a:solidFill>
                  <a:schemeClr val="accent5"/>
                </a:solidFill>
              </a:rPr>
              <a:t>. </a:t>
            </a:r>
            <a:r>
              <a:rPr lang="ko-KR" altLang="en-US" b="1" dirty="0">
                <a:solidFill>
                  <a:schemeClr val="accent5"/>
                </a:solidFill>
              </a:rPr>
              <a:t>그리고 목적지는 </a:t>
            </a:r>
            <a:r>
              <a:rPr lang="en-US" altLang="ko-KR" b="1" dirty="0">
                <a:solidFill>
                  <a:schemeClr val="accent5"/>
                </a:solidFill>
              </a:rPr>
              <a:t>Ping Echo reply</a:t>
            </a:r>
            <a:r>
              <a:rPr lang="ko-KR" altLang="en-US" b="1" dirty="0">
                <a:solidFill>
                  <a:schemeClr val="accent5"/>
                </a:solidFill>
              </a:rPr>
              <a:t>로</a:t>
            </a:r>
            <a:endParaRPr lang="en-US" altLang="ko-KR" b="1" dirty="0">
              <a:solidFill>
                <a:schemeClr val="accent5"/>
              </a:solidFill>
            </a:endParaRPr>
          </a:p>
          <a:p>
            <a:pPr>
              <a:lnSpc>
                <a:spcPct val="250000"/>
              </a:lnSpc>
            </a:pPr>
            <a:r>
              <a:rPr lang="en-US" altLang="ko-KR" b="1" dirty="0">
                <a:solidFill>
                  <a:schemeClr val="accent5"/>
                </a:solidFill>
              </a:rPr>
              <a:t>    </a:t>
            </a:r>
            <a:r>
              <a:rPr lang="ko-KR" altLang="en-US" b="1" dirty="0">
                <a:solidFill>
                  <a:schemeClr val="accent5"/>
                </a:solidFill>
              </a:rPr>
              <a:t>돌아온다</a:t>
            </a:r>
            <a:r>
              <a:rPr lang="en-US" altLang="ko-KR" b="1" dirty="0">
                <a:solidFill>
                  <a:schemeClr val="accent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7657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4855</TotalTime>
  <Words>1544</Words>
  <Application>Microsoft Office PowerPoint</Application>
  <PresentationFormat>와이드스크린</PresentationFormat>
  <Paragraphs>169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Gill Sans MT</vt:lpstr>
      <vt:lpstr>Wingdings</vt:lpstr>
      <vt:lpstr>1_Office 테마</vt:lpstr>
      <vt:lpstr>PowerPoint 프레젠테이션</vt:lpstr>
      <vt:lpstr>Lab 08 : ICMP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</dc:creator>
  <cp:lastModifiedBy>이 혜인</cp:lastModifiedBy>
  <cp:revision>1155</cp:revision>
  <dcterms:created xsi:type="dcterms:W3CDTF">2017-04-28T07:42:30Z</dcterms:created>
  <dcterms:modified xsi:type="dcterms:W3CDTF">2020-03-11T09:59:23Z</dcterms:modified>
</cp:coreProperties>
</file>